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788" r:id="rId1"/>
  </p:sldMasterIdLst>
  <p:notesMasterIdLst>
    <p:notesMasterId r:id="rId11"/>
  </p:notesMasterIdLst>
  <p:sldIdLst>
    <p:sldId id="256" r:id="rId2"/>
    <p:sldId id="257" r:id="rId3"/>
    <p:sldId id="260" r:id="rId4"/>
    <p:sldId id="258" r:id="rId5"/>
    <p:sldId id="259" r:id="rId6"/>
    <p:sldId id="261" r:id="rId7"/>
    <p:sldId id="262" r:id="rId8"/>
    <p:sldId id="263" r:id="rId9"/>
    <p:sldId id="264" r:id="rId10"/>
  </p:sldIdLst>
  <p:sldSz cx="12192000" cy="6858000"/>
  <p:notesSz cx="10234613" cy="710406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1" pos="7680">
          <p15:clr>
            <a:srgbClr val="A4A3A4"/>
          </p15:clr>
        </p15:guide>
        <p15:guide id="12" orient="horz" pos="3498">
          <p15:clr>
            <a:srgbClr val="A4A3A4"/>
          </p15:clr>
        </p15:guide>
        <p15:guide id="13" orient="horz" pos="1820">
          <p15:clr>
            <a:srgbClr val="A4A3A4"/>
          </p15:clr>
        </p15:guide>
      </p15:sldGuideLst>
    </p:ext>
    <p:ext uri="{2D200454-40CA-4A62-9FC3-DE9A4176ACB9}">
      <p15:notesGuideLst xmlns:p15="http://schemas.microsoft.com/office/powerpoint/2012/main">
        <p15:guide id="1" orient="horz" pos="2238">
          <p15:clr>
            <a:srgbClr val="A4A3A4"/>
          </p15:clr>
        </p15:guide>
        <p15:guide id="2" pos="322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9" autoAdjust="0"/>
    <p:restoredTop sz="94593" autoAdjust="0"/>
  </p:normalViewPr>
  <p:slideViewPr>
    <p:cSldViewPr showGuides="1">
      <p:cViewPr varScale="1">
        <p:scale>
          <a:sx n="110" d="100"/>
          <a:sy n="110" d="100"/>
        </p:scale>
        <p:origin x="624" y="184"/>
      </p:cViewPr>
      <p:guideLst>
        <p:guide pos="7680"/>
        <p:guide orient="horz" pos="3498"/>
        <p:guide orient="horz" pos="1820"/>
      </p:guideLst>
    </p:cSldViewPr>
  </p:slideViewPr>
  <p:outlineViewPr>
    <p:cViewPr>
      <p:scale>
        <a:sx n="33" d="100"/>
        <a:sy n="33" d="100"/>
      </p:scale>
      <p:origin x="0" y="0"/>
    </p:cViewPr>
  </p:outlineViewPr>
  <p:notesTextViewPr>
    <p:cViewPr>
      <p:scale>
        <a:sx n="3" d="2"/>
        <a:sy n="3" d="2"/>
      </p:scale>
      <p:origin x="0" y="0"/>
    </p:cViewPr>
  </p:notesTextViewPr>
  <p:notesViewPr>
    <p:cSldViewPr showGuides="1">
      <p:cViewPr varScale="1">
        <p:scale>
          <a:sx n="66" d="100"/>
          <a:sy n="66" d="100"/>
        </p:scale>
        <p:origin x="0" y="0"/>
      </p:cViewPr>
      <p:guideLst>
        <p:guide orient="horz" pos="2238"/>
        <p:guide pos="3224"/>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435475" cy="3556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797550" y="0"/>
            <a:ext cx="4435475" cy="355600"/>
          </a:xfrm>
          <a:prstGeom prst="rect">
            <a:avLst/>
          </a:prstGeom>
        </p:spPr>
        <p:txBody>
          <a:bodyPr vert="horz" lIns="91440" tIns="45720" rIns="91440" bIns="45720" rtlCol="0"/>
          <a:lstStyle>
            <a:lvl1pPr algn="r">
              <a:defRPr sz="1200"/>
            </a:lvl1pPr>
          </a:lstStyle>
          <a:p>
            <a:fld id="{984DF737-ED33-4233-8AF0-5A862A41FD20}" type="datetimeFigureOut">
              <a:rPr lang="en-GB" smtClean="0"/>
              <a:t>31/05/2026</a:t>
            </a:fld>
            <a:endParaRPr lang="en-GB"/>
          </a:p>
        </p:txBody>
      </p:sp>
      <p:sp>
        <p:nvSpPr>
          <p:cNvPr id="4" name="Slide Image Placeholder 3"/>
          <p:cNvSpPr>
            <a:spLocks noGrp="1" noRot="1" noChangeAspect="1"/>
          </p:cNvSpPr>
          <p:nvPr>
            <p:ph type="sldImg" idx="2"/>
          </p:nvPr>
        </p:nvSpPr>
        <p:spPr>
          <a:xfrm>
            <a:off x="2984500" y="887413"/>
            <a:ext cx="4265613" cy="23987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1023938" y="3419475"/>
            <a:ext cx="8186737" cy="27971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6748463"/>
            <a:ext cx="4435475" cy="3556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797550" y="6748463"/>
            <a:ext cx="4435475" cy="355600"/>
          </a:xfrm>
          <a:prstGeom prst="rect">
            <a:avLst/>
          </a:prstGeom>
        </p:spPr>
        <p:txBody>
          <a:bodyPr vert="horz" lIns="91440" tIns="45720" rIns="91440" bIns="45720" rtlCol="0" anchor="b"/>
          <a:lstStyle>
            <a:lvl1pPr algn="r">
              <a:defRPr sz="1200"/>
            </a:lvl1pPr>
          </a:lstStyle>
          <a:p>
            <a:fld id="{964F08D9-4CCA-4282-A798-34791BA3BD88}" type="slidenum">
              <a:rPr lang="en-GB" smtClean="0"/>
              <a:t>‹N°›</a:t>
            </a:fld>
            <a:endParaRPr lang="en-GB"/>
          </a:p>
        </p:txBody>
      </p:sp>
    </p:spTree>
    <p:extLst>
      <p:ext uri="{BB962C8B-B14F-4D97-AF65-F5344CB8AC3E}">
        <p14:creationId xmlns:p14="http://schemas.microsoft.com/office/powerpoint/2010/main" val="4031198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64F08D9-4CCA-4282-A798-34791BA3BD88}" type="slidenum">
              <a:rPr lang="en-GB" smtClean="0"/>
              <a:t>0</a:t>
            </a:fld>
            <a:endParaRPr lang="en-GB"/>
          </a:p>
        </p:txBody>
      </p:sp>
    </p:spTree>
    <p:extLst>
      <p:ext uri="{BB962C8B-B14F-4D97-AF65-F5344CB8AC3E}">
        <p14:creationId xmlns:p14="http://schemas.microsoft.com/office/powerpoint/2010/main" val="28330619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3FB6B92-A36B-2A94-0468-D35F1B113724}"/>
              </a:ext>
            </a:extLst>
          </p:cNvPr>
          <p:cNvSpPr>
            <a:spLocks noGrp="1"/>
          </p:cNvSpPr>
          <p:nvPr>
            <p:ph type="dt" sz="half" idx="10"/>
          </p:nvPr>
        </p:nvSpPr>
        <p:spPr/>
        <p:txBody>
          <a:bodyPr/>
          <a:lstStyle/>
          <a:p>
            <a:pPr algn="ctr"/>
            <a:fld id="{24C6D76B-A34A-4BAD-8582-BA181ECD7E46}" type="datetime1">
              <a:rPr lang="fr-BE" smtClean="0"/>
              <a:t>31/05/26</a:t>
            </a:fld>
            <a:endParaRPr lang="en-US" dirty="0"/>
          </a:p>
        </p:txBody>
      </p:sp>
      <p:sp>
        <p:nvSpPr>
          <p:cNvPr id="4" name="Slide Number Placeholder 3">
            <a:extLst>
              <a:ext uri="{FF2B5EF4-FFF2-40B4-BE49-F238E27FC236}">
                <a16:creationId xmlns:a16="http://schemas.microsoft.com/office/drawing/2014/main" id="{B05210FF-E04C-215C-E4A2-1476F903E7EC}"/>
              </a:ext>
            </a:extLst>
          </p:cNvPr>
          <p:cNvSpPr>
            <a:spLocks noGrp="1"/>
          </p:cNvSpPr>
          <p:nvPr>
            <p:ph type="sldNum" sz="quarter" idx="11"/>
          </p:nvPr>
        </p:nvSpPr>
        <p:spPr/>
        <p:txBody>
          <a:bodyPr/>
          <a:lstStyle/>
          <a:p>
            <a:fld id="{76277A8F-E207-A04D-9DAB-D29F92A0BD80}" type="slidenum">
              <a:rPr lang="en-US" smtClean="0"/>
              <a:pPr/>
              <a:t>‹N°›</a:t>
            </a:fld>
            <a:endParaRPr lang="en-US"/>
          </a:p>
        </p:txBody>
      </p:sp>
      <p:sp>
        <p:nvSpPr>
          <p:cNvPr id="5" name="Footer Placeholder 4">
            <a:extLst>
              <a:ext uri="{FF2B5EF4-FFF2-40B4-BE49-F238E27FC236}">
                <a16:creationId xmlns:a16="http://schemas.microsoft.com/office/drawing/2014/main" id="{142C2CF0-E011-11DC-8D79-A227DE5EB8F9}"/>
              </a:ext>
            </a:extLst>
          </p:cNvPr>
          <p:cNvSpPr>
            <a:spLocks noGrp="1"/>
          </p:cNvSpPr>
          <p:nvPr>
            <p:ph type="ftr" sz="quarter" idx="12"/>
          </p:nvPr>
        </p:nvSpPr>
        <p:spPr>
          <a:xfrm>
            <a:off x="479376" y="44624"/>
            <a:ext cx="2880320" cy="261610"/>
          </a:xfrm>
          <a:solidFill>
            <a:schemeClr val="bg1">
              <a:lumMod val="85000"/>
            </a:schemeClr>
          </a:solidFill>
          <a:ln w="3175">
            <a:solidFill>
              <a:schemeClr val="accent3">
                <a:lumMod val="75000"/>
              </a:schemeClr>
            </a:solidFill>
          </a:ln>
        </p:spPr>
        <p:txBody>
          <a:bodyPr/>
          <a:lstStyle>
            <a:lvl1pPr algn="l">
              <a:defRPr>
                <a:solidFill>
                  <a:schemeClr val="tx1"/>
                </a:solidFill>
              </a:defRPr>
            </a:lvl1pPr>
          </a:lstStyle>
          <a:p>
            <a:r>
              <a:rPr lang="en-GB"/>
              <a:t>PROJECT NAME </a:t>
            </a:r>
            <a:endParaRPr lang="en-GB" dirty="0"/>
          </a:p>
        </p:txBody>
      </p:sp>
      <p:sp>
        <p:nvSpPr>
          <p:cNvPr id="6" name="TextBox 5">
            <a:extLst>
              <a:ext uri="{FF2B5EF4-FFF2-40B4-BE49-F238E27FC236}">
                <a16:creationId xmlns:a16="http://schemas.microsoft.com/office/drawing/2014/main" id="{191A50CE-A09B-43AB-DB85-4E68E5973816}"/>
              </a:ext>
            </a:extLst>
          </p:cNvPr>
          <p:cNvSpPr txBox="1"/>
          <p:nvPr userDrawn="1"/>
        </p:nvSpPr>
        <p:spPr>
          <a:xfrm>
            <a:off x="-24680" y="1"/>
            <a:ext cx="360000" cy="6237288"/>
          </a:xfrm>
          <a:prstGeom prst="rect">
            <a:avLst/>
          </a:prstGeom>
          <a:solidFill>
            <a:schemeClr val="accent3">
              <a:lumMod val="75000"/>
            </a:schemeClr>
          </a:solidFill>
        </p:spPr>
        <p:txBody>
          <a:bodyPr vert="vert270" wrap="square" lIns="0" tIns="36000" rIns="0" bIns="36000" rtlCol="0" anchor="ctr" anchorCtr="0">
            <a:noAutofit/>
          </a:bodyPr>
          <a:lstStyle/>
          <a:p>
            <a:pPr algn="ctr"/>
            <a:r>
              <a:rPr lang="en-US" sz="1200" dirty="0">
                <a:solidFill>
                  <a:schemeClr val="bg1"/>
                </a:solidFill>
              </a:rPr>
              <a:t>Three-Engine Scale-Up Canvas</a:t>
            </a:r>
            <a:endParaRPr lang="en-GB" sz="1200" dirty="0">
              <a:solidFill>
                <a:schemeClr val="bg1"/>
              </a:solidFill>
            </a:endParaRPr>
          </a:p>
        </p:txBody>
      </p:sp>
    </p:spTree>
    <p:extLst>
      <p:ext uri="{BB962C8B-B14F-4D97-AF65-F5344CB8AC3E}">
        <p14:creationId xmlns:p14="http://schemas.microsoft.com/office/powerpoint/2010/main" val="657653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orking Shee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DD8CB-7ACE-E478-B251-845AFFAB86B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1740C749-8A92-0D44-84C1-90FE758719D3}"/>
              </a:ext>
            </a:extLst>
          </p:cNvPr>
          <p:cNvSpPr>
            <a:spLocks noGrp="1"/>
          </p:cNvSpPr>
          <p:nvPr>
            <p:ph type="dt" sz="half" idx="10"/>
          </p:nvPr>
        </p:nvSpPr>
        <p:spPr/>
        <p:txBody>
          <a:bodyPr/>
          <a:lstStyle/>
          <a:p>
            <a:pPr algn="ctr"/>
            <a:fld id="{4C95F593-7A7E-4ED4-AF88-58C18AE988C9}" type="datetime1">
              <a:rPr lang="fr-BE" smtClean="0"/>
              <a:t>31/05/26</a:t>
            </a:fld>
            <a:endParaRPr lang="en-US" dirty="0"/>
          </a:p>
        </p:txBody>
      </p:sp>
      <p:sp>
        <p:nvSpPr>
          <p:cNvPr id="4" name="Slide Number Placeholder 3">
            <a:extLst>
              <a:ext uri="{FF2B5EF4-FFF2-40B4-BE49-F238E27FC236}">
                <a16:creationId xmlns:a16="http://schemas.microsoft.com/office/drawing/2014/main" id="{44FAB78D-4B86-6C15-4D9C-094C94FC54A4}"/>
              </a:ext>
            </a:extLst>
          </p:cNvPr>
          <p:cNvSpPr>
            <a:spLocks noGrp="1"/>
          </p:cNvSpPr>
          <p:nvPr>
            <p:ph type="sldNum" sz="quarter" idx="11"/>
          </p:nvPr>
        </p:nvSpPr>
        <p:spPr/>
        <p:txBody>
          <a:bodyPr/>
          <a:lstStyle/>
          <a:p>
            <a:fld id="{76277A8F-E207-A04D-9DAB-D29F92A0BD80}" type="slidenum">
              <a:rPr lang="en-US" smtClean="0"/>
              <a:pPr/>
              <a:t>‹N°›</a:t>
            </a:fld>
            <a:endParaRPr lang="en-US"/>
          </a:p>
        </p:txBody>
      </p:sp>
      <p:sp>
        <p:nvSpPr>
          <p:cNvPr id="5" name="Footer Placeholder 4">
            <a:extLst>
              <a:ext uri="{FF2B5EF4-FFF2-40B4-BE49-F238E27FC236}">
                <a16:creationId xmlns:a16="http://schemas.microsoft.com/office/drawing/2014/main" id="{B78B1DA8-CC52-B056-8F76-ED1D5C78C50E}"/>
              </a:ext>
            </a:extLst>
          </p:cNvPr>
          <p:cNvSpPr>
            <a:spLocks noGrp="1"/>
          </p:cNvSpPr>
          <p:nvPr>
            <p:ph type="ftr" sz="quarter" idx="12"/>
          </p:nvPr>
        </p:nvSpPr>
        <p:spPr/>
        <p:txBody>
          <a:bodyPr/>
          <a:lstStyle/>
          <a:p>
            <a:r>
              <a:rPr lang="en-GB"/>
              <a:t>PROJECT NAME </a:t>
            </a:r>
            <a:endParaRPr lang="en-GB" dirty="0"/>
          </a:p>
        </p:txBody>
      </p:sp>
      <p:sp>
        <p:nvSpPr>
          <p:cNvPr id="6" name="TextBox 5">
            <a:extLst>
              <a:ext uri="{FF2B5EF4-FFF2-40B4-BE49-F238E27FC236}">
                <a16:creationId xmlns:a16="http://schemas.microsoft.com/office/drawing/2014/main" id="{AAFD6439-F8BA-AFD5-94A1-3851F3F95CA5}"/>
              </a:ext>
            </a:extLst>
          </p:cNvPr>
          <p:cNvSpPr txBox="1"/>
          <p:nvPr userDrawn="1"/>
        </p:nvSpPr>
        <p:spPr>
          <a:xfrm>
            <a:off x="-24680" y="1"/>
            <a:ext cx="360000" cy="6237288"/>
          </a:xfrm>
          <a:prstGeom prst="rect">
            <a:avLst/>
          </a:prstGeom>
          <a:solidFill>
            <a:schemeClr val="accent3">
              <a:lumMod val="75000"/>
            </a:schemeClr>
          </a:solidFill>
        </p:spPr>
        <p:txBody>
          <a:bodyPr vert="vert270" wrap="square" lIns="0" tIns="36000" rIns="0" bIns="36000" rtlCol="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Three-Engine Scale-Up Canvas</a:t>
            </a:r>
            <a:r>
              <a:rPr lang="en-GB" sz="1200" dirty="0">
                <a:solidFill>
                  <a:schemeClr val="bg1"/>
                </a:solidFill>
              </a:rPr>
              <a:t>: </a:t>
            </a:r>
            <a:r>
              <a:rPr lang="en-US" sz="1200" dirty="0">
                <a:solidFill>
                  <a:schemeClr val="bg1"/>
                </a:solidFill>
              </a:rPr>
              <a:t>Working Sheet</a:t>
            </a:r>
            <a:endParaRPr lang="en-GB" sz="1200" dirty="0">
              <a:solidFill>
                <a:schemeClr val="bg1"/>
              </a:solidFill>
            </a:endParaRPr>
          </a:p>
        </p:txBody>
      </p:sp>
      <p:sp>
        <p:nvSpPr>
          <p:cNvPr id="8" name="Content Placeholder 7">
            <a:extLst>
              <a:ext uri="{FF2B5EF4-FFF2-40B4-BE49-F238E27FC236}">
                <a16:creationId xmlns:a16="http://schemas.microsoft.com/office/drawing/2014/main" id="{6D38311A-C95A-8B43-45C8-34406F16C1DA}"/>
              </a:ext>
            </a:extLst>
          </p:cNvPr>
          <p:cNvSpPr>
            <a:spLocks noGrp="1"/>
          </p:cNvSpPr>
          <p:nvPr>
            <p:ph sz="quarter" idx="13"/>
          </p:nvPr>
        </p:nvSpPr>
        <p:spPr>
          <a:xfrm>
            <a:off x="334964" y="720002"/>
            <a:ext cx="11521716" cy="587764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41842743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sp>
        <p:nvSpPr>
          <p:cNvPr id="7" name="Date"/>
          <p:cNvSpPr>
            <a:spLocks noGrp="1"/>
          </p:cNvSpPr>
          <p:nvPr>
            <p:ph type="dt" sz="half" idx="2"/>
          </p:nvPr>
        </p:nvSpPr>
        <p:spPr>
          <a:xfrm>
            <a:off x="2216" y="6237288"/>
            <a:ext cx="332747" cy="648096"/>
          </a:xfrm>
          <a:prstGeom prst="rect">
            <a:avLst/>
          </a:prstGeom>
          <a:solidFill>
            <a:schemeClr val="accent3">
              <a:lumMod val="75000"/>
            </a:schemeClr>
          </a:solidFill>
        </p:spPr>
        <p:txBody>
          <a:bodyPr vert="vert270" anchor="ctr" anchorCtr="0"/>
          <a:lstStyle>
            <a:lvl1pPr algn="ctr">
              <a:defRPr sz="700">
                <a:solidFill>
                  <a:schemeClr val="bg1">
                    <a:lumMod val="65000"/>
                  </a:schemeClr>
                </a:solidFill>
              </a:defRPr>
            </a:lvl1pPr>
          </a:lstStyle>
          <a:p>
            <a:pPr algn="ctr"/>
            <a:fld id="{0D677296-FE71-42EF-BA16-B2CF8C3455B5}" type="datetime1">
              <a:rPr lang="fr-BE" smtClean="0"/>
              <a:t>31/05/26</a:t>
            </a:fld>
            <a:endParaRPr lang="en-US" dirty="0"/>
          </a:p>
        </p:txBody>
      </p:sp>
      <p:sp>
        <p:nvSpPr>
          <p:cNvPr id="9" name="Slide Number"/>
          <p:cNvSpPr>
            <a:spLocks noGrp="1"/>
          </p:cNvSpPr>
          <p:nvPr>
            <p:ph type="sldNum" sz="quarter" idx="4"/>
          </p:nvPr>
        </p:nvSpPr>
        <p:spPr>
          <a:xfrm>
            <a:off x="8918576" y="6634798"/>
            <a:ext cx="2938104" cy="216000"/>
          </a:xfrm>
          <a:prstGeom prst="rect">
            <a:avLst/>
          </a:prstGeom>
        </p:spPr>
        <p:txBody>
          <a:bodyPr/>
          <a:lstStyle>
            <a:lvl1pPr algn="r">
              <a:defRPr sz="700">
                <a:solidFill>
                  <a:schemeClr val="bg1">
                    <a:lumMod val="65000"/>
                  </a:schemeClr>
                </a:solidFill>
              </a:defRPr>
            </a:lvl1pPr>
          </a:lstStyle>
          <a:p>
            <a:fld id="{76277A8F-E207-A04D-9DAB-D29F92A0BD80}" type="slidenum">
              <a:rPr lang="en-US" smtClean="0"/>
              <a:pPr/>
              <a:t>‹N°›</a:t>
            </a:fld>
            <a:endParaRPr lang="en-US"/>
          </a:p>
        </p:txBody>
      </p:sp>
      <p:sp>
        <p:nvSpPr>
          <p:cNvPr id="3" name="Text"/>
          <p:cNvSpPr>
            <a:spLocks noGrp="1"/>
          </p:cNvSpPr>
          <p:nvPr>
            <p:ph type="body" idx="1"/>
          </p:nvPr>
        </p:nvSpPr>
        <p:spPr>
          <a:xfrm>
            <a:off x="334963" y="720002"/>
            <a:ext cx="11497035" cy="551634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cNvSpPr>
            <a:spLocks noGrp="1"/>
          </p:cNvSpPr>
          <p:nvPr>
            <p:ph type="title"/>
          </p:nvPr>
        </p:nvSpPr>
        <p:spPr>
          <a:xfrm>
            <a:off x="334964" y="1"/>
            <a:ext cx="11857036" cy="720000"/>
          </a:xfrm>
          <a:prstGeom prst="rect">
            <a:avLst/>
          </a:prstGeom>
          <a:solidFill>
            <a:schemeClr val="accent3">
              <a:lumMod val="75000"/>
            </a:schemeClr>
          </a:solidFill>
        </p:spPr>
        <p:txBody>
          <a:bodyPr vert="horz" lIns="91440" tIns="45720" rIns="91440" bIns="45720" rtlCol="0" anchor="ctr">
            <a:noAutofit/>
          </a:bodyPr>
          <a:lstStyle/>
          <a:p>
            <a:r>
              <a:rPr lang="en-US" dirty="0"/>
              <a:t>Click to edit Master title style</a:t>
            </a:r>
          </a:p>
        </p:txBody>
      </p:sp>
      <p:sp>
        <p:nvSpPr>
          <p:cNvPr id="4" name="Footer Placeholder 3">
            <a:extLst>
              <a:ext uri="{FF2B5EF4-FFF2-40B4-BE49-F238E27FC236}">
                <a16:creationId xmlns:a16="http://schemas.microsoft.com/office/drawing/2014/main" id="{06833406-6312-7A8D-B844-F8AC878D2F1D}"/>
              </a:ext>
            </a:extLst>
          </p:cNvPr>
          <p:cNvSpPr>
            <a:spLocks noGrp="1"/>
          </p:cNvSpPr>
          <p:nvPr>
            <p:ph type="ftr" sz="quarter" idx="3"/>
          </p:nvPr>
        </p:nvSpPr>
        <p:spPr>
          <a:xfrm>
            <a:off x="4038600" y="6634798"/>
            <a:ext cx="4114800" cy="216000"/>
          </a:xfrm>
          <a:prstGeom prst="rect">
            <a:avLst/>
          </a:prstGeom>
        </p:spPr>
        <p:txBody>
          <a:bodyPr vert="horz" lIns="91440" tIns="45720" rIns="91440" bIns="45720" rtlCol="0" anchor="ctr"/>
          <a:lstStyle>
            <a:lvl1pPr algn="ctr">
              <a:defRPr sz="700">
                <a:solidFill>
                  <a:schemeClr val="tx1">
                    <a:tint val="82000"/>
                  </a:schemeClr>
                </a:solidFill>
              </a:defRPr>
            </a:lvl1pPr>
          </a:lstStyle>
          <a:p>
            <a:r>
              <a:rPr lang="en-GB"/>
              <a:t>PROJECT NAME </a:t>
            </a:r>
            <a:endParaRPr lang="en-GB" dirty="0"/>
          </a:p>
        </p:txBody>
      </p:sp>
    </p:spTree>
    <p:extLst>
      <p:ext uri="{BB962C8B-B14F-4D97-AF65-F5344CB8AC3E}">
        <p14:creationId xmlns:p14="http://schemas.microsoft.com/office/powerpoint/2010/main" val="185314241"/>
      </p:ext>
    </p:extLst>
  </p:cSld>
  <p:clrMap bg1="lt1" tx1="dk1" bg2="lt2" tx2="dk2" accent1="accent1" accent2="accent2" accent3="accent3" accent4="accent4" accent5="accent5" accent6="accent6" hlink="hlink" folHlink="folHlink"/>
  <p:sldLayoutIdLst>
    <p:sldLayoutId id="2147483651" r:id="rId1"/>
    <p:sldLayoutId id="2147483650" r:id="rId2"/>
  </p:sldLayoutIdLst>
  <p:hf hdr="0"/>
  <p:txStyles>
    <p:titleStyle>
      <a:lvl1pPr algn="l" defTabSz="457200" rtl="0" eaLnBrk="1" latinLnBrk="0" hangingPunct="1">
        <a:spcBef>
          <a:spcPct val="0"/>
        </a:spcBef>
        <a:buNone/>
        <a:defRPr sz="3200" b="1" kern="1200">
          <a:solidFill>
            <a:schemeClr val="bg1"/>
          </a:solidFill>
          <a:latin typeface="+mj-lt"/>
          <a:ea typeface="+mj-ea"/>
          <a:cs typeface="+mj-cs"/>
        </a:defRPr>
      </a:lvl1pPr>
    </p:titleStyle>
    <p:bodyStyle>
      <a:lvl1pPr marL="180975" indent="-180975" algn="l" defTabSz="457200" rtl="0" eaLnBrk="1" latinLnBrk="0" hangingPunct="1">
        <a:spcBef>
          <a:spcPct val="20000"/>
        </a:spcBef>
        <a:buFont typeface="Wingdings" pitchFamily="2" charset="2"/>
        <a:buChar char="§"/>
        <a:defRPr sz="1400" kern="1200">
          <a:solidFill>
            <a:schemeClr val="tx1">
              <a:lumMod val="75000"/>
            </a:schemeClr>
          </a:solidFill>
          <a:latin typeface="+mn-lt"/>
          <a:ea typeface="+mn-ea"/>
          <a:cs typeface="+mn-cs"/>
        </a:defRPr>
      </a:lvl1pPr>
      <a:lvl2pPr marL="355600" indent="-174625" algn="l" defTabSz="457200" rtl="0" eaLnBrk="1" latinLnBrk="0" hangingPunct="1">
        <a:spcBef>
          <a:spcPct val="20000"/>
        </a:spcBef>
        <a:buFont typeface="Wingdings" pitchFamily="2" charset="2"/>
        <a:buChar char="§"/>
        <a:defRPr sz="1400" kern="1200">
          <a:solidFill>
            <a:schemeClr val="tx1">
              <a:lumMod val="75000"/>
            </a:schemeClr>
          </a:solidFill>
          <a:latin typeface="+mn-lt"/>
          <a:ea typeface="+mn-ea"/>
          <a:cs typeface="+mn-cs"/>
        </a:defRPr>
      </a:lvl2pPr>
      <a:lvl3pPr marL="538163" indent="-182563" algn="l" defTabSz="457200" rtl="0" eaLnBrk="1" latinLnBrk="0" hangingPunct="1">
        <a:spcBef>
          <a:spcPct val="20000"/>
        </a:spcBef>
        <a:buFont typeface="Wingdings" pitchFamily="2" charset="2"/>
        <a:buChar char="§"/>
        <a:defRPr sz="1400" kern="1200">
          <a:solidFill>
            <a:schemeClr val="tx1">
              <a:lumMod val="75000"/>
            </a:schemeClr>
          </a:solidFill>
          <a:latin typeface="+mn-lt"/>
          <a:ea typeface="+mn-ea"/>
          <a:cs typeface="+mn-cs"/>
        </a:defRPr>
      </a:lvl3pPr>
      <a:lvl4pPr marL="719138" indent="-180975" algn="l" defTabSz="457200" rtl="0" eaLnBrk="1" latinLnBrk="0" hangingPunct="1">
        <a:spcBef>
          <a:spcPct val="20000"/>
        </a:spcBef>
        <a:buFont typeface="Wingdings" pitchFamily="2" charset="2"/>
        <a:buChar char="§"/>
        <a:defRPr sz="1400" kern="1200">
          <a:solidFill>
            <a:schemeClr val="tx1">
              <a:lumMod val="75000"/>
            </a:schemeClr>
          </a:solidFill>
          <a:latin typeface="+mn-lt"/>
          <a:ea typeface="+mn-ea"/>
          <a:cs typeface="+mn-cs"/>
        </a:defRPr>
      </a:lvl4pPr>
      <a:lvl5pPr marL="893763" indent="-180975" algn="l" defTabSz="457200" rtl="0" eaLnBrk="1" latinLnBrk="0" hangingPunct="1">
        <a:spcBef>
          <a:spcPct val="20000"/>
        </a:spcBef>
        <a:buFont typeface="Wingdings" pitchFamily="2" charset="2"/>
        <a:buChar char="§"/>
        <a:defRPr sz="1400" kern="1200">
          <a:solidFill>
            <a:schemeClr val="tx1">
              <a:lumMod val="7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4" orient="horz" pos="436" userDrawn="1">
          <p15:clr>
            <a:srgbClr val="F26B43"/>
          </p15:clr>
        </p15:guide>
        <p15:guide id="5" orient="horz" pos="3929">
          <p15:clr>
            <a:srgbClr val="F26B43"/>
          </p15:clr>
        </p15:guide>
        <p15:guide id="8" pos="211" userDrawn="1">
          <p15:clr>
            <a:srgbClr val="F26B43"/>
          </p15:clr>
        </p15:guide>
        <p15:guide id="9" pos="7423" userDrawn="1">
          <p15:clr>
            <a:srgbClr val="F26B43"/>
          </p15:clr>
        </p15:guide>
        <p15:guide id="10" orient="horz" pos="4156">
          <p15:clr>
            <a:srgbClr val="F26B43"/>
          </p15:clr>
        </p15:guide>
        <p15:guide id="11" pos="2706">
          <p15:clr>
            <a:srgbClr val="F26B43"/>
          </p15:clr>
        </p15:guide>
        <p15:guide id="12" pos="4974">
          <p15:clr>
            <a:srgbClr val="F26B43"/>
          </p15:clr>
        </p15:guide>
        <p15:guide id="13" orient="horz" pos="256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1760A4-11D7-B6E2-F480-E8B26871329C}"/>
              </a:ext>
            </a:extLst>
          </p:cNvPr>
          <p:cNvSpPr>
            <a:spLocks noGrp="1"/>
          </p:cNvSpPr>
          <p:nvPr>
            <p:ph type="sldNum" sz="quarter" idx="11"/>
          </p:nvPr>
        </p:nvSpPr>
        <p:spPr/>
        <p:txBody>
          <a:bodyPr/>
          <a:lstStyle/>
          <a:p>
            <a:fld id="{76277A8F-E207-A04D-9DAB-D29F92A0BD80}" type="slidenum">
              <a:rPr lang="en-US" smtClean="0"/>
              <a:pPr/>
              <a:t>0</a:t>
            </a:fld>
            <a:endParaRPr lang="en-US"/>
          </a:p>
        </p:txBody>
      </p:sp>
      <p:sp>
        <p:nvSpPr>
          <p:cNvPr id="3" name="Footer Placeholder 2">
            <a:extLst>
              <a:ext uri="{FF2B5EF4-FFF2-40B4-BE49-F238E27FC236}">
                <a16:creationId xmlns:a16="http://schemas.microsoft.com/office/drawing/2014/main" id="{6F1BB330-0357-94A6-4E05-1EC85477AD49}"/>
              </a:ext>
            </a:extLst>
          </p:cNvPr>
          <p:cNvSpPr>
            <a:spLocks noGrp="1"/>
          </p:cNvSpPr>
          <p:nvPr>
            <p:ph type="ftr" sz="quarter" idx="12"/>
          </p:nvPr>
        </p:nvSpPr>
        <p:spPr>
          <a:xfrm>
            <a:off x="479376" y="160699"/>
            <a:ext cx="2880320" cy="261610"/>
          </a:xfrm>
        </p:spPr>
        <p:txBody>
          <a:bodyPr/>
          <a:lstStyle/>
          <a:p>
            <a:r>
              <a:t>URBAN GLOW GRID</a:t>
            </a:r>
          </a:p>
        </p:txBody>
      </p:sp>
      <p:sp>
        <p:nvSpPr>
          <p:cNvPr id="4" name="Date Placeholder 3">
            <a:extLst>
              <a:ext uri="{FF2B5EF4-FFF2-40B4-BE49-F238E27FC236}">
                <a16:creationId xmlns:a16="http://schemas.microsoft.com/office/drawing/2014/main" id="{41206255-3D92-F916-D5C3-4B6ED3EE1808}"/>
              </a:ext>
            </a:extLst>
          </p:cNvPr>
          <p:cNvSpPr>
            <a:spLocks noGrp="1"/>
          </p:cNvSpPr>
          <p:nvPr>
            <p:ph type="dt" sz="half" idx="10"/>
          </p:nvPr>
        </p:nvSpPr>
        <p:spPr/>
        <p:txBody>
          <a:bodyPr/>
          <a:lstStyle/>
          <a:p>
            <a:r>
              <a:t>31/05/26</a:t>
            </a:r>
          </a:p>
        </p:txBody>
      </p:sp>
      <p:grpSp>
        <p:nvGrpSpPr>
          <p:cNvPr id="7" name="Group 6">
            <a:extLst>
              <a:ext uri="{FF2B5EF4-FFF2-40B4-BE49-F238E27FC236}">
                <a16:creationId xmlns:a16="http://schemas.microsoft.com/office/drawing/2014/main" id="{C66E626D-8D1A-3CED-B6D4-733D39EC65DE}"/>
              </a:ext>
            </a:extLst>
          </p:cNvPr>
          <p:cNvGrpSpPr/>
          <p:nvPr/>
        </p:nvGrpSpPr>
        <p:grpSpPr>
          <a:xfrm>
            <a:off x="1091384" y="523244"/>
            <a:ext cx="4324264" cy="2069881"/>
            <a:chOff x="3824850" y="2204704"/>
            <a:chExt cx="4324264" cy="1655997"/>
          </a:xfrm>
        </p:grpSpPr>
        <p:sp>
          <p:nvSpPr>
            <p:cNvPr id="5" name="TextBox 4">
              <a:extLst>
                <a:ext uri="{FF2B5EF4-FFF2-40B4-BE49-F238E27FC236}">
                  <a16:creationId xmlns:a16="http://schemas.microsoft.com/office/drawing/2014/main" id="{E269D01A-F04F-AB9F-3341-F25BA9BAADBE}"/>
                </a:ext>
              </a:extLst>
            </p:cNvPr>
            <p:cNvSpPr txBox="1"/>
            <p:nvPr/>
          </p:nvSpPr>
          <p:spPr>
            <a:xfrm>
              <a:off x="3824850" y="2204704"/>
              <a:ext cx="4320000" cy="288000"/>
            </a:xfrm>
            <a:prstGeom prst="rect">
              <a:avLst/>
            </a:prstGeom>
            <a:solidFill>
              <a:schemeClr val="accent3">
                <a:lumMod val="75000"/>
              </a:schemeClr>
            </a:solidFill>
            <a:ln>
              <a:solidFill>
                <a:schemeClr val="accent3">
                  <a:lumMod val="75000"/>
                </a:schemeClr>
              </a:solidFill>
            </a:ln>
          </p:spPr>
          <p:txBody>
            <a:bodyPr wrap="square" rtlCol="0">
              <a:spAutoFit/>
            </a:bodyPr>
            <a:lstStyle/>
            <a:p>
              <a:pPr algn="ctr"/>
              <a:r>
                <a:rPr lang="en-GB" sz="1100" dirty="0">
                  <a:solidFill>
                    <a:schemeClr val="bg1"/>
                  </a:solidFill>
                </a:rPr>
                <a:t>Growth ambition &amp; scope (incl. China)</a:t>
              </a:r>
            </a:p>
          </p:txBody>
        </p:sp>
        <p:sp>
          <p:nvSpPr>
            <p:cNvPr id="6" name="TextBox 5">
              <a:extLst>
                <a:ext uri="{FF2B5EF4-FFF2-40B4-BE49-F238E27FC236}">
                  <a16:creationId xmlns:a16="http://schemas.microsoft.com/office/drawing/2014/main" id="{F8EDEEBA-0D1E-4A06-BB91-0009000F9E3B}"/>
                </a:ext>
              </a:extLst>
            </p:cNvPr>
            <p:cNvSpPr txBox="1"/>
            <p:nvPr/>
          </p:nvSpPr>
          <p:spPr>
            <a:xfrm>
              <a:off x="3829114" y="2492701"/>
              <a:ext cx="4320000" cy="1368000"/>
            </a:xfrm>
            <a:prstGeom prst="rect">
              <a:avLst/>
            </a:prstGeom>
            <a:solidFill>
              <a:srgbClr val="F2F2F2"/>
            </a:solidFill>
            <a:ln>
              <a:solidFill>
                <a:schemeClr val="accent3">
                  <a:lumMod val="75000"/>
                </a:schemeClr>
              </a:solidFill>
            </a:ln>
          </p:spPr>
          <p:txBody>
            <a:bodyPr wrap="square" rtlCol="0">
              <a:noAutofit/>
            </a:bodyPr>
            <a:lstStyle/>
            <a:p>
              <a:pPr>
                <a:defRPr sz="850" b="1">
                  <a:latin typeface="Arial"/>
                </a:defRPr>
              </a:pPr>
              <a:r>
                <a:rPr sz="800" dirty="0"/>
                <a:t>Growth objective: What does ‘success’ look like in 3–5 years?</a:t>
              </a:r>
            </a:p>
            <a:p>
              <a:pPr>
                <a:defRPr sz="750" b="0">
                  <a:latin typeface="Arial"/>
                </a:defRPr>
              </a:pPr>
              <a:r>
                <a:rPr sz="700" dirty="0"/>
                <a:t>• Deploy the "Urban Glow Grid" platform across 5 strategic European and Asian Smart Cities—specifically targeting Shanghai, Shenzhen, Singapore, Paris, and Amsterdam—as an official interactive B2B/B2G civic tech exhibition tool.</a:t>
              </a:r>
            </a:p>
            <a:p>
              <a:pPr>
                <a:defRPr sz="750" b="0">
                  <a:latin typeface="Arial"/>
                </a:defRPr>
              </a:pPr>
              <a:r>
                <a:rPr sz="700" dirty="0"/>
                <a:t>• Reach 10,000+ active online simulator users and establish commercial co-sponsorships with academic innovation labs and regional energy councils.</a:t>
              </a:r>
            </a:p>
            <a:p>
              <a:pPr>
                <a:defRPr sz="750" b="0">
                  <a:latin typeface="Arial"/>
                </a:defRPr>
              </a:pPr>
              <a:endParaRPr sz="700" dirty="0"/>
            </a:p>
            <a:p>
              <a:pPr>
                <a:defRPr sz="850" b="1">
                  <a:latin typeface="Arial"/>
                </a:defRPr>
              </a:pPr>
              <a:r>
                <a:rPr sz="800" dirty="0"/>
                <a:t>Primary target customer / segment:</a:t>
              </a:r>
            </a:p>
            <a:p>
              <a:pPr>
                <a:defRPr sz="750" b="0">
                  <a:latin typeface="Arial"/>
                </a:defRPr>
              </a:pPr>
              <a:r>
                <a:rPr sz="700" dirty="0"/>
                <a:t>• B2B / B2G: Smart City Museums, Science Centers, Municipal Education Boards, and ESG Real Estate Developers.</a:t>
              </a:r>
            </a:p>
            <a:p>
              <a:pPr>
                <a:defRPr sz="750" b="0">
                  <a:latin typeface="Arial"/>
                </a:defRPr>
              </a:pPr>
              <a:endParaRPr sz="700" dirty="0"/>
            </a:p>
            <a:p>
              <a:pPr>
                <a:defRPr sz="850" b="1">
                  <a:latin typeface="Arial"/>
                </a:defRPr>
              </a:pPr>
              <a:r>
                <a:rPr sz="800" dirty="0"/>
                <a:t>Current stage:</a:t>
              </a:r>
            </a:p>
            <a:p>
              <a:pPr>
                <a:defRPr sz="750" b="0">
                  <a:latin typeface="Arial"/>
                </a:defRPr>
              </a:pPr>
              <a:r>
                <a:rPr sz="700" dirty="0"/>
                <a:t>• MVP / Low-cost Pilot: Low-fidelity physical 80x60cm wooden matrix prototype (25€ budget limit) paired with an active local JavaScript web simulator core.</a:t>
              </a:r>
            </a:p>
          </p:txBody>
        </p:sp>
      </p:grpSp>
      <p:grpSp>
        <p:nvGrpSpPr>
          <p:cNvPr id="8" name="Group 7">
            <a:extLst>
              <a:ext uri="{FF2B5EF4-FFF2-40B4-BE49-F238E27FC236}">
                <a16:creationId xmlns:a16="http://schemas.microsoft.com/office/drawing/2014/main" id="{0C247F48-71EC-79DA-5FA2-9472D4A14504}"/>
              </a:ext>
            </a:extLst>
          </p:cNvPr>
          <p:cNvGrpSpPr/>
          <p:nvPr/>
        </p:nvGrpSpPr>
        <p:grpSpPr>
          <a:xfrm>
            <a:off x="5932853" y="309667"/>
            <a:ext cx="5400000" cy="2183230"/>
            <a:chOff x="4748752" y="2028489"/>
            <a:chExt cx="5400000" cy="1409254"/>
          </a:xfrm>
        </p:grpSpPr>
        <p:sp>
          <p:nvSpPr>
            <p:cNvPr id="9" name="TextBox 8">
              <a:extLst>
                <a:ext uri="{FF2B5EF4-FFF2-40B4-BE49-F238E27FC236}">
                  <a16:creationId xmlns:a16="http://schemas.microsoft.com/office/drawing/2014/main" id="{0D9E22A2-9D5E-F230-C566-CBD36F04DB11}"/>
                </a:ext>
              </a:extLst>
            </p:cNvPr>
            <p:cNvSpPr txBox="1"/>
            <p:nvPr/>
          </p:nvSpPr>
          <p:spPr>
            <a:xfrm>
              <a:off x="4748752" y="2028489"/>
              <a:ext cx="5400000" cy="261610"/>
            </a:xfrm>
            <a:prstGeom prst="rect">
              <a:avLst/>
            </a:prstGeom>
            <a:solidFill>
              <a:schemeClr val="accent3">
                <a:lumMod val="75000"/>
              </a:schemeClr>
            </a:solidFill>
            <a:ln>
              <a:solidFill>
                <a:schemeClr val="accent3">
                  <a:lumMod val="75000"/>
                </a:schemeClr>
              </a:solidFill>
            </a:ln>
          </p:spPr>
          <p:txBody>
            <a:bodyPr wrap="square" rtlCol="0">
              <a:spAutoFit/>
            </a:bodyPr>
            <a:lstStyle/>
            <a:p>
              <a:pPr algn="ctr"/>
              <a:r>
                <a:rPr lang="en-GB" sz="1100" dirty="0">
                  <a:solidFill>
                    <a:schemeClr val="bg1"/>
                  </a:solidFill>
                </a:rPr>
                <a:t>Design the Offer</a:t>
              </a:r>
            </a:p>
          </p:txBody>
        </p:sp>
        <p:sp>
          <p:nvSpPr>
            <p:cNvPr id="10" name="TextBox 9">
              <a:extLst>
                <a:ext uri="{FF2B5EF4-FFF2-40B4-BE49-F238E27FC236}">
                  <a16:creationId xmlns:a16="http://schemas.microsoft.com/office/drawing/2014/main" id="{C201C883-C730-9E8F-A075-FE5E26859F20}"/>
                </a:ext>
              </a:extLst>
            </p:cNvPr>
            <p:cNvSpPr txBox="1"/>
            <p:nvPr/>
          </p:nvSpPr>
          <p:spPr>
            <a:xfrm>
              <a:off x="4748752" y="2286145"/>
              <a:ext cx="5400000" cy="1151598"/>
            </a:xfrm>
            <a:prstGeom prst="rect">
              <a:avLst/>
            </a:prstGeom>
            <a:solidFill>
              <a:srgbClr val="F2F2F2"/>
            </a:solidFill>
            <a:ln>
              <a:solidFill>
                <a:schemeClr val="accent3">
                  <a:lumMod val="75000"/>
                </a:schemeClr>
              </a:solidFill>
            </a:ln>
          </p:spPr>
          <p:txBody>
            <a:bodyPr wrap="square" rtlCol="0">
              <a:noAutofit/>
            </a:bodyPr>
            <a:lstStyle/>
            <a:p>
              <a:pPr>
                <a:defRPr sz="850" b="1">
                  <a:latin typeface="Arial"/>
                </a:defRPr>
              </a:pPr>
              <a:r>
                <a:rPr sz="800" dirty="0"/>
                <a:t>Customers &amp; problems / needs:</a:t>
              </a:r>
            </a:p>
            <a:p>
              <a:pPr>
                <a:defRPr sz="750" b="0">
                  <a:latin typeface="Arial"/>
                </a:defRPr>
              </a:pPr>
              <a:r>
                <a:rPr sz="700" dirty="0"/>
                <a:t>• Problem: Urban energy usage is abstract, invisible, and delayed (monthly bills). Citizens cannot optimize what they cannot see.</a:t>
              </a:r>
            </a:p>
            <a:p>
              <a:pPr>
                <a:defRPr sz="750" b="0">
                  <a:latin typeface="Arial"/>
                </a:defRPr>
              </a:pPr>
              <a:r>
                <a:rPr sz="700" dirty="0"/>
                <a:t>• Need: Public spaces and municipal bodies need highly interactive, gamified tools to translate complex energy distribution grid challenges into intuitive, emotional human experiences.</a:t>
              </a:r>
            </a:p>
            <a:p>
              <a:pPr>
                <a:defRPr sz="750" b="0">
                  <a:latin typeface="Arial"/>
                </a:defRPr>
              </a:pPr>
              <a:endParaRPr sz="700" dirty="0"/>
            </a:p>
            <a:p>
              <a:pPr>
                <a:defRPr sz="850" b="1">
                  <a:latin typeface="Arial"/>
                </a:defRPr>
              </a:pPr>
              <a:r>
                <a:rPr sz="800" dirty="0"/>
                <a:t>Solutions and concepts / architecture:</a:t>
              </a:r>
            </a:p>
            <a:p>
              <a:pPr>
                <a:defRPr sz="750" b="0">
                  <a:latin typeface="Arial"/>
                </a:defRPr>
              </a:pPr>
              <a:r>
                <a:rPr sz="700" dirty="0"/>
                <a:t>• The Hero Product: An interactive digital twin &amp; hardware layout of Paris at a strict 1:15,000 scale.</a:t>
              </a:r>
            </a:p>
            <a:p>
              <a:pPr>
                <a:defRPr sz="750" b="0">
                  <a:latin typeface="Arial"/>
                </a:defRPr>
              </a:pPr>
              <a:r>
                <a:rPr sz="700" dirty="0"/>
                <a:t>• System Architecture: A 20-zone physical wood matrix powered by an affordable ESP32 microcontroller, driven by an organic, responsive HSL "breathing light" logic.</a:t>
              </a:r>
            </a:p>
            <a:p>
              <a:pPr>
                <a:defRPr sz="750" b="0">
                  <a:latin typeface="Arial"/>
                </a:defRPr>
              </a:pPr>
              <a:endParaRPr sz="700" dirty="0"/>
            </a:p>
            <a:p>
              <a:pPr>
                <a:defRPr sz="850" b="1">
                  <a:latin typeface="Arial"/>
                </a:defRPr>
              </a:pPr>
              <a:r>
                <a:rPr sz="800" dirty="0"/>
                <a:t>Value and Pricing: How we win, rough price logic:</a:t>
              </a:r>
            </a:p>
            <a:p>
              <a:pPr>
                <a:defRPr sz="750" b="0">
                  <a:latin typeface="Arial"/>
                </a:defRPr>
              </a:pPr>
              <a:r>
                <a:rPr sz="700" dirty="0"/>
                <a:t>• How We Win: Gamified Social Equity. We compete on visceral engagement and extreme cost-efficiency (sub-25€ DIY building blocks vs. thousands of euros for industrial smart displays).</a:t>
              </a:r>
            </a:p>
            <a:p>
              <a:pPr>
                <a:defRPr sz="750" b="0">
                  <a:latin typeface="Arial"/>
                </a:defRPr>
              </a:pPr>
              <a:r>
                <a:rPr sz="700" dirty="0"/>
                <a:t>• Price Logic: B2B/B2G subscription-based pricing for custom city layouts, paired with a freemium open-source software model for universities and schools.</a:t>
              </a:r>
            </a:p>
          </p:txBody>
        </p:sp>
      </p:grpSp>
      <p:grpSp>
        <p:nvGrpSpPr>
          <p:cNvPr id="11" name="Group 10">
            <a:extLst>
              <a:ext uri="{FF2B5EF4-FFF2-40B4-BE49-F238E27FC236}">
                <a16:creationId xmlns:a16="http://schemas.microsoft.com/office/drawing/2014/main" id="{41438920-C96F-DE38-6E70-06DD7AB188D3}"/>
              </a:ext>
            </a:extLst>
          </p:cNvPr>
          <p:cNvGrpSpPr/>
          <p:nvPr/>
        </p:nvGrpSpPr>
        <p:grpSpPr>
          <a:xfrm>
            <a:off x="659696" y="2707522"/>
            <a:ext cx="5400000" cy="2301199"/>
            <a:chOff x="4441948" y="2306602"/>
            <a:chExt cx="5400000" cy="1698301"/>
          </a:xfrm>
        </p:grpSpPr>
        <p:sp>
          <p:nvSpPr>
            <p:cNvPr id="12" name="TextBox 11">
              <a:extLst>
                <a:ext uri="{FF2B5EF4-FFF2-40B4-BE49-F238E27FC236}">
                  <a16:creationId xmlns:a16="http://schemas.microsoft.com/office/drawing/2014/main" id="{E3D3831D-AB21-6F3C-B20D-23AC89E0A0D6}"/>
                </a:ext>
              </a:extLst>
            </p:cNvPr>
            <p:cNvSpPr txBox="1"/>
            <p:nvPr/>
          </p:nvSpPr>
          <p:spPr>
            <a:xfrm>
              <a:off x="4441948" y="2306602"/>
              <a:ext cx="5400000" cy="261610"/>
            </a:xfrm>
            <a:prstGeom prst="rect">
              <a:avLst/>
            </a:prstGeom>
            <a:solidFill>
              <a:schemeClr val="accent3">
                <a:lumMod val="75000"/>
              </a:schemeClr>
            </a:solidFill>
            <a:ln>
              <a:solidFill>
                <a:schemeClr val="accent3">
                  <a:lumMod val="75000"/>
                </a:schemeClr>
              </a:solidFill>
            </a:ln>
          </p:spPr>
          <p:txBody>
            <a:bodyPr wrap="square" rtlCol="0">
              <a:spAutoFit/>
            </a:bodyPr>
            <a:lstStyle/>
            <a:p>
              <a:pPr algn="ctr"/>
              <a:r>
                <a:rPr lang="en-GB" sz="1100" dirty="0">
                  <a:solidFill>
                    <a:schemeClr val="bg1"/>
                  </a:solidFill>
                </a:rPr>
                <a:t>Deliver the Value</a:t>
              </a:r>
            </a:p>
          </p:txBody>
        </p:sp>
        <p:sp>
          <p:nvSpPr>
            <p:cNvPr id="13" name="TextBox 12">
              <a:extLst>
                <a:ext uri="{FF2B5EF4-FFF2-40B4-BE49-F238E27FC236}">
                  <a16:creationId xmlns:a16="http://schemas.microsoft.com/office/drawing/2014/main" id="{86FA7286-0058-AC11-F3EE-76A8A233B92F}"/>
                </a:ext>
              </a:extLst>
            </p:cNvPr>
            <p:cNvSpPr txBox="1"/>
            <p:nvPr/>
          </p:nvSpPr>
          <p:spPr>
            <a:xfrm>
              <a:off x="4441948" y="2564903"/>
              <a:ext cx="5400000" cy="1440000"/>
            </a:xfrm>
            <a:prstGeom prst="rect">
              <a:avLst/>
            </a:prstGeom>
            <a:solidFill>
              <a:srgbClr val="F2F2F2"/>
            </a:solidFill>
            <a:ln>
              <a:solidFill>
                <a:schemeClr val="accent3">
                  <a:lumMod val="75000"/>
                </a:schemeClr>
              </a:solidFill>
            </a:ln>
          </p:spPr>
          <p:txBody>
            <a:bodyPr wrap="square" rtlCol="0">
              <a:noAutofit/>
            </a:bodyPr>
            <a:lstStyle/>
            <a:p>
              <a:pPr>
                <a:defRPr sz="850" b="1">
                  <a:latin typeface="Arial"/>
                </a:defRPr>
              </a:pPr>
              <a:r>
                <a:t>Go-to-market: Channels, sales approach, type of customers:</a:t>
              </a:r>
            </a:p>
            <a:p>
              <a:pPr>
                <a:defRPr sz="750" b="0">
                  <a:latin typeface="Arial"/>
                </a:defRPr>
              </a:pPr>
              <a:r>
                <a:t>• Key Message: "Make the invisible tangible: Experience the real-time heartbeat of your city's energy grid."</a:t>
              </a:r>
            </a:p>
            <a:p>
              <a:pPr>
                <a:defRPr sz="750" b="0">
                  <a:latin typeface="Arial"/>
                </a:defRPr>
              </a:pPr>
              <a:r>
                <a:t>• Channels: Direct inbound sales to Science &amp; Tech museums, and partnerships with University Innovation Hubs (e.g., UTSEUS).</a:t>
              </a:r>
            </a:p>
            <a:p>
              <a:pPr>
                <a:defRPr sz="750" b="0">
                  <a:latin typeface="Arial"/>
                </a:defRPr>
              </a:pPr>
              <a:r>
                <a:t>• Sales Approach: High-impact, visual "Elevator Pitch" demonstrations utilizing the interactive dashboard to secure pilot exhibition spaces.</a:t>
              </a:r>
            </a:p>
            <a:p>
              <a:pPr>
                <a:defRPr sz="750" b="0">
                  <a:latin typeface="Arial"/>
                </a:defRPr>
              </a:pPr>
              <a:endParaRPr/>
            </a:p>
            <a:p>
              <a:pPr>
                <a:defRPr sz="850" b="1">
                  <a:latin typeface="Arial"/>
                </a:defRPr>
              </a:pPr>
              <a:r>
                <a:t>Delivery &amp; capacity: Where/how is it produced or hosted:</a:t>
              </a:r>
            </a:p>
            <a:p>
              <a:pPr>
                <a:defRPr sz="750" b="0">
                  <a:latin typeface="Arial"/>
                </a:defRPr>
              </a:pPr>
              <a:r>
                <a:t>• Hardware: Sourced entirely from open markets in mainland China (Taobao) for ultra-low-cost components; manufactured using campus fablabs.</a:t>
              </a:r>
            </a:p>
            <a:p>
              <a:pPr>
                <a:defRPr sz="750" b="0">
                  <a:latin typeface="Arial"/>
                </a:defRPr>
              </a:pPr>
              <a:r>
                <a:t>• Software: Hosted globally via lightweight, fast-loading, client-side web hosting (GitHub Pages / Vercel), requiring zero backend database upkeep for maximum scalability.</a:t>
              </a:r>
            </a:p>
            <a:p>
              <a:pPr>
                <a:defRPr sz="750" b="0">
                  <a:latin typeface="Arial"/>
                </a:defRPr>
              </a:pPr>
              <a:endParaRPr/>
            </a:p>
            <a:p>
              <a:pPr>
                <a:defRPr sz="850" b="1">
                  <a:latin typeface="Arial"/>
                </a:defRPr>
              </a:pPr>
              <a:r>
                <a:t>How many customers/units we can roughly serve now:</a:t>
              </a:r>
            </a:p>
            <a:p>
              <a:pPr>
                <a:defRPr sz="750" b="0">
                  <a:latin typeface="Arial"/>
                </a:defRPr>
              </a:pPr>
              <a:r>
                <a:t>• Current Capacity: 1 physical unit (hand-wired assembly loop), but capable of supporting unlimited concurrent digital web simulator instances internationally.</a:t>
              </a:r>
            </a:p>
          </p:txBody>
        </p:sp>
      </p:grpSp>
      <p:grpSp>
        <p:nvGrpSpPr>
          <p:cNvPr id="16" name="Group 15">
            <a:extLst>
              <a:ext uri="{FF2B5EF4-FFF2-40B4-BE49-F238E27FC236}">
                <a16:creationId xmlns:a16="http://schemas.microsoft.com/office/drawing/2014/main" id="{54402B1A-E779-188C-0754-B1513C65E3A7}"/>
              </a:ext>
            </a:extLst>
          </p:cNvPr>
          <p:cNvGrpSpPr/>
          <p:nvPr/>
        </p:nvGrpSpPr>
        <p:grpSpPr>
          <a:xfrm>
            <a:off x="6384632" y="2969570"/>
            <a:ext cx="5399380" cy="2230863"/>
            <a:chOff x="4441948" y="2306602"/>
            <a:chExt cx="5400000" cy="1698301"/>
          </a:xfrm>
        </p:grpSpPr>
        <p:sp>
          <p:nvSpPr>
            <p:cNvPr id="17" name="TextBox 16">
              <a:extLst>
                <a:ext uri="{FF2B5EF4-FFF2-40B4-BE49-F238E27FC236}">
                  <a16:creationId xmlns:a16="http://schemas.microsoft.com/office/drawing/2014/main" id="{B5CDF4D9-75BE-12B8-1609-070174806DF2}"/>
                </a:ext>
              </a:extLst>
            </p:cNvPr>
            <p:cNvSpPr txBox="1"/>
            <p:nvPr/>
          </p:nvSpPr>
          <p:spPr>
            <a:xfrm>
              <a:off x="4441948" y="2306602"/>
              <a:ext cx="5400000" cy="261610"/>
            </a:xfrm>
            <a:prstGeom prst="rect">
              <a:avLst/>
            </a:prstGeom>
            <a:solidFill>
              <a:schemeClr val="accent3">
                <a:lumMod val="75000"/>
              </a:schemeClr>
            </a:solidFill>
            <a:ln>
              <a:solidFill>
                <a:schemeClr val="accent3">
                  <a:lumMod val="75000"/>
                </a:schemeClr>
              </a:solidFill>
            </a:ln>
          </p:spPr>
          <p:txBody>
            <a:bodyPr wrap="square" rtlCol="0">
              <a:spAutoFit/>
            </a:bodyPr>
            <a:lstStyle/>
            <a:p>
              <a:pPr algn="ctr"/>
              <a:r>
                <a:rPr lang="en-GB" sz="1100" dirty="0">
                  <a:solidFill>
                    <a:schemeClr val="bg1"/>
                  </a:solidFill>
                </a:rPr>
                <a:t>Run the Company</a:t>
              </a:r>
            </a:p>
          </p:txBody>
        </p:sp>
        <p:sp>
          <p:nvSpPr>
            <p:cNvPr id="18" name="TextBox 17">
              <a:extLst>
                <a:ext uri="{FF2B5EF4-FFF2-40B4-BE49-F238E27FC236}">
                  <a16:creationId xmlns:a16="http://schemas.microsoft.com/office/drawing/2014/main" id="{BC15FB52-2082-0A4C-9B15-EDF9793C595E}"/>
                </a:ext>
              </a:extLst>
            </p:cNvPr>
            <p:cNvSpPr txBox="1"/>
            <p:nvPr/>
          </p:nvSpPr>
          <p:spPr>
            <a:xfrm>
              <a:off x="4441948" y="2564903"/>
              <a:ext cx="5400000" cy="1440000"/>
            </a:xfrm>
            <a:prstGeom prst="rect">
              <a:avLst/>
            </a:prstGeom>
            <a:solidFill>
              <a:srgbClr val="F2F2F2"/>
            </a:solidFill>
            <a:ln>
              <a:solidFill>
                <a:schemeClr val="accent3">
                  <a:lumMod val="75000"/>
                </a:schemeClr>
              </a:solidFill>
            </a:ln>
          </p:spPr>
          <p:txBody>
            <a:bodyPr wrap="square" rtlCol="0">
              <a:noAutofit/>
            </a:bodyPr>
            <a:lstStyle/>
            <a:p>
              <a:pPr>
                <a:defRPr sz="850" b="1">
                  <a:latin typeface="Arial"/>
                </a:defRPr>
              </a:pPr>
              <a:r>
                <a:rPr sz="700" dirty="0"/>
                <a:t>People &amp; roles: Who does what, evolution &amp; missing skills:</a:t>
              </a:r>
            </a:p>
            <a:p>
              <a:pPr>
                <a:defRPr sz="750" b="0">
                  <a:latin typeface="Arial"/>
                </a:defRPr>
              </a:pPr>
              <a:r>
                <a:rPr sz="600" dirty="0"/>
                <a:t>• Abir (CEO): Product vision, narrative design, and strategic stakeholder pitch alignment.</a:t>
              </a:r>
            </a:p>
            <a:p>
              <a:pPr>
                <a:defRPr sz="750" b="0">
                  <a:latin typeface="Arial"/>
                </a:defRPr>
              </a:pPr>
              <a:r>
                <a:rPr sz="600" dirty="0"/>
                <a:t>• Sofiane (CTO): ESP32 system engineering, HSL lighting logic programming, and hardware wire routing.</a:t>
              </a:r>
            </a:p>
            <a:p>
              <a:pPr>
                <a:defRPr sz="750" b="0">
                  <a:latin typeface="Arial"/>
                </a:defRPr>
              </a:pPr>
              <a:r>
                <a:rPr sz="600" dirty="0"/>
                <a:t>• Mohamed (Creative Director): 3D UI/UX design, Paris map scaling, and asset creation.</a:t>
              </a:r>
            </a:p>
            <a:p>
              <a:pPr>
                <a:defRPr sz="750" b="0">
                  <a:latin typeface="Arial"/>
                </a:defRPr>
              </a:pPr>
              <a:r>
                <a:rPr sz="600" dirty="0"/>
                <a:t>• Ismail (Operations &amp; Sourcing): Component procurement via Taobao, budget tracking, and </a:t>
              </a:r>
              <a:r>
                <a:rPr sz="600" dirty="0" err="1"/>
                <a:t>fablab</a:t>
              </a:r>
              <a:r>
                <a:rPr sz="600" dirty="0"/>
                <a:t> manufacturing coordination.</a:t>
              </a:r>
            </a:p>
            <a:p>
              <a:pPr>
                <a:defRPr sz="750" b="0">
                  <a:latin typeface="Arial"/>
                </a:defRPr>
              </a:pPr>
              <a:r>
                <a:rPr sz="600" dirty="0"/>
                <a:t>• Nouh TARI (Head of Sales &amp; Commercial): Driving B2B/B2G contracts, museum relationships, and market expansion.</a:t>
              </a:r>
            </a:p>
            <a:p>
              <a:pPr>
                <a:defRPr sz="750" b="0">
                  <a:latin typeface="Arial"/>
                </a:defRPr>
              </a:pPr>
              <a:r>
                <a:rPr sz="600" dirty="0"/>
                <a:t>• Role Evolution: As we scale, founders will transition from "hands-on makers" to department managers leading specialized teams.</a:t>
              </a:r>
            </a:p>
            <a:p>
              <a:pPr>
                <a:defRPr sz="750" b="0">
                  <a:latin typeface="Arial"/>
                </a:defRPr>
              </a:pPr>
              <a:r>
                <a:rPr sz="600" dirty="0"/>
                <a:t>• Critical Missing Skills: Industrial product designer (for scalable plastic casing), B2B Legal/Compliance Specialist, and a Customer Success Manager.</a:t>
              </a:r>
            </a:p>
            <a:p>
              <a:pPr>
                <a:defRPr sz="750" b="0">
                  <a:latin typeface="Arial"/>
                </a:defRPr>
              </a:pPr>
              <a:endParaRPr sz="600" dirty="0"/>
            </a:p>
            <a:p>
              <a:pPr>
                <a:defRPr sz="850" b="1">
                  <a:latin typeface="Arial"/>
                </a:defRPr>
              </a:pPr>
              <a:r>
                <a:rPr sz="700" dirty="0"/>
                <a:t>Money &amp; Company Origins: Where/how is it financed:</a:t>
              </a:r>
            </a:p>
            <a:p>
              <a:pPr>
                <a:defRPr sz="750" b="0">
                  <a:latin typeface="Arial"/>
                </a:defRPr>
              </a:pPr>
              <a:r>
                <a:rPr sz="600" dirty="0"/>
                <a:t>• Company Creation: Born from a UTSEUS "Games for Change" academic project. The company was founded on the challenge of building a high-impact IoT tool with a strict student budget constraint.</a:t>
              </a:r>
            </a:p>
            <a:p>
              <a:pPr>
                <a:defRPr sz="750" b="0">
                  <a:latin typeface="Arial"/>
                </a:defRPr>
              </a:pPr>
              <a:r>
                <a:rPr sz="600" dirty="0"/>
                <a:t>• Current Funding: Bootstrapped via the 25€ (200 RMB) university lab grant.</a:t>
              </a:r>
            </a:p>
            <a:p>
              <a:pPr>
                <a:defRPr sz="750" b="0">
                  <a:latin typeface="Arial"/>
                </a:defRPr>
              </a:pPr>
              <a:r>
                <a:rPr sz="600" dirty="0"/>
                <a:t>• Scale Financing Plan: Transitioning to regional green incubation grants and academic innovation funds in Shanghai/Europe to fund V2 manufacturing.</a:t>
              </a:r>
            </a:p>
            <a:p>
              <a:pPr>
                <a:defRPr sz="750" b="0">
                  <a:latin typeface="Arial"/>
                </a:defRPr>
              </a:pPr>
              <a:endParaRPr sz="600" dirty="0"/>
            </a:p>
            <a:p>
              <a:pPr>
                <a:defRPr sz="850" b="1">
                  <a:latin typeface="Arial"/>
                </a:defRPr>
              </a:pPr>
              <a:r>
                <a:rPr sz="700" dirty="0"/>
                <a:t>Legal &amp; governance:</a:t>
              </a:r>
            </a:p>
            <a:p>
              <a:pPr>
                <a:defRPr sz="750" b="0">
                  <a:latin typeface="Arial"/>
                </a:defRPr>
              </a:pPr>
              <a:r>
                <a:rPr sz="600" dirty="0"/>
                <a:t>• Compliance with open-source software distributions (MIT License framework).</a:t>
              </a:r>
            </a:p>
            <a:p>
              <a:pPr>
                <a:defRPr sz="750" b="0">
                  <a:latin typeface="Arial"/>
                </a:defRPr>
              </a:pPr>
              <a:r>
                <a:rPr sz="600" dirty="0"/>
                <a:t>• Adherence to municipal lab health, safety, and electrical standards.</a:t>
              </a:r>
            </a:p>
          </p:txBody>
        </p:sp>
      </p:grpSp>
      <p:grpSp>
        <p:nvGrpSpPr>
          <p:cNvPr id="19" name="Group 18">
            <a:extLst>
              <a:ext uri="{FF2B5EF4-FFF2-40B4-BE49-F238E27FC236}">
                <a16:creationId xmlns:a16="http://schemas.microsoft.com/office/drawing/2014/main" id="{D2602B7F-D726-A7AC-26BF-A77F455BFDB2}"/>
              </a:ext>
            </a:extLst>
          </p:cNvPr>
          <p:cNvGrpSpPr/>
          <p:nvPr/>
        </p:nvGrpSpPr>
        <p:grpSpPr>
          <a:xfrm>
            <a:off x="551384" y="5301368"/>
            <a:ext cx="11232628" cy="1440000"/>
            <a:chOff x="524911" y="2666802"/>
            <a:chExt cx="10944525" cy="1440000"/>
          </a:xfrm>
        </p:grpSpPr>
        <p:sp>
          <p:nvSpPr>
            <p:cNvPr id="20" name="TextBox 19">
              <a:extLst>
                <a:ext uri="{FF2B5EF4-FFF2-40B4-BE49-F238E27FC236}">
                  <a16:creationId xmlns:a16="http://schemas.microsoft.com/office/drawing/2014/main" id="{06826CF5-120F-F3CD-1C50-E1B7B63CBC84}"/>
                </a:ext>
              </a:extLst>
            </p:cNvPr>
            <p:cNvSpPr txBox="1"/>
            <p:nvPr/>
          </p:nvSpPr>
          <p:spPr>
            <a:xfrm>
              <a:off x="524911" y="2666802"/>
              <a:ext cx="540000" cy="1440000"/>
            </a:xfrm>
            <a:prstGeom prst="rect">
              <a:avLst/>
            </a:prstGeom>
            <a:solidFill>
              <a:schemeClr val="accent3">
                <a:lumMod val="75000"/>
              </a:schemeClr>
            </a:solidFill>
            <a:ln>
              <a:solidFill>
                <a:schemeClr val="accent3">
                  <a:lumMod val="75000"/>
                </a:schemeClr>
              </a:solidFill>
            </a:ln>
          </p:spPr>
          <p:txBody>
            <a:bodyPr vert="vert270" wrap="square" rtlCol="0">
              <a:spAutoFit/>
            </a:bodyPr>
            <a:lstStyle/>
            <a:p>
              <a:pPr algn="ctr"/>
              <a:r>
                <a:rPr lang="en-GB" sz="1100" dirty="0">
                  <a:solidFill>
                    <a:schemeClr val="bg1"/>
                  </a:solidFill>
                </a:rPr>
                <a:t>Risks, assumptions, open questions</a:t>
              </a:r>
            </a:p>
          </p:txBody>
        </p:sp>
        <p:sp>
          <p:nvSpPr>
            <p:cNvPr id="21" name="TextBox 20">
              <a:extLst>
                <a:ext uri="{FF2B5EF4-FFF2-40B4-BE49-F238E27FC236}">
                  <a16:creationId xmlns:a16="http://schemas.microsoft.com/office/drawing/2014/main" id="{FAE09298-2985-D87D-DF30-C7BCD00EEF74}"/>
                </a:ext>
              </a:extLst>
            </p:cNvPr>
            <p:cNvSpPr txBox="1"/>
            <p:nvPr/>
          </p:nvSpPr>
          <p:spPr>
            <a:xfrm>
              <a:off x="1064911" y="2666802"/>
              <a:ext cx="10404525" cy="1440000"/>
            </a:xfrm>
            <a:prstGeom prst="rect">
              <a:avLst/>
            </a:prstGeom>
            <a:solidFill>
              <a:srgbClr val="F2F2F2"/>
            </a:solidFill>
            <a:ln>
              <a:solidFill>
                <a:schemeClr val="accent3">
                  <a:lumMod val="75000"/>
                </a:schemeClr>
              </a:solidFill>
            </a:ln>
          </p:spPr>
          <p:txBody>
            <a:bodyPr wrap="square" rtlCol="0">
              <a:noAutofit/>
            </a:bodyPr>
            <a:lstStyle/>
            <a:p>
              <a:pPr>
                <a:defRPr sz="850" b="1">
                  <a:latin typeface="Arial"/>
                </a:defRPr>
              </a:pPr>
              <a:r>
                <a:rPr sz="800" dirty="0"/>
                <a:t>Key assumptions: Things we take for granted:</a:t>
              </a:r>
            </a:p>
            <a:p>
              <a:pPr>
                <a:defRPr sz="750" b="0">
                  <a:latin typeface="Arial"/>
                </a:defRPr>
              </a:pPr>
              <a:r>
                <a:rPr sz="700" dirty="0"/>
                <a:t>• Institutional buyers prefer physical, tactile, wooden layouts over plain display interfaces.</a:t>
              </a:r>
            </a:p>
            <a:p>
              <a:pPr>
                <a:defRPr sz="750" b="0">
                  <a:latin typeface="Arial"/>
                </a:defRPr>
              </a:pPr>
              <a:r>
                <a:rPr sz="700" dirty="0"/>
                <a:t>• Real-time carbon intensity data metrics (RTE/ADEME API models) can be clearly simplified for everyday urban citizens.</a:t>
              </a:r>
            </a:p>
            <a:p>
              <a:pPr>
                <a:defRPr sz="750" b="0">
                  <a:latin typeface="Arial"/>
                </a:defRPr>
              </a:pPr>
              <a:endParaRPr sz="700" dirty="0"/>
            </a:p>
            <a:p>
              <a:pPr>
                <a:defRPr sz="850" b="1">
                  <a:latin typeface="Arial"/>
                </a:defRPr>
              </a:pPr>
              <a:r>
                <a:rPr sz="800" dirty="0"/>
                <a:t>Unknowns / must-learn (Must be validated before big investment &amp; Action Plan):</a:t>
              </a:r>
            </a:p>
            <a:p>
              <a:pPr>
                <a:defRPr sz="750" b="0">
                  <a:latin typeface="Arial"/>
                </a:defRPr>
              </a:pPr>
              <a:r>
                <a:rPr sz="700" dirty="0"/>
                <a:t>• Will users engage long-term or treat it as a short-lived gimmick? -&gt; Action Plan: Deploy a 4-week beta test in a Shanghai museum and track average session duration and repeat visits using hidden software analytics.</a:t>
              </a:r>
            </a:p>
            <a:p>
              <a:pPr>
                <a:defRPr sz="750" b="0">
                  <a:latin typeface="Arial"/>
                </a:defRPr>
              </a:pPr>
              <a:r>
                <a:rPr sz="700" dirty="0"/>
                <a:t>• What is the exact wear-and-tear lifespan of cheap mechanical switches? -&gt; Action Plan: Build an automated mechanical testing rig in the lab to simulate 10,000 presses and record failure rates before mass ordering.</a:t>
              </a:r>
            </a:p>
            <a:p>
              <a:pPr>
                <a:defRPr sz="750" b="0">
                  <a:latin typeface="Arial"/>
                </a:defRPr>
              </a:pPr>
              <a:r>
                <a:rPr sz="700" dirty="0"/>
                <a:t>• What are the exact certification costs and compliance pathways for educational hardware? -&gt; Action Plan: Consult a legal expert specializing in EU CE marking and China CCC certification by Q3 to map out regulatory costs.</a:t>
              </a:r>
            </a:p>
            <a:p>
              <a:pPr>
                <a:defRPr sz="750" b="0">
                  <a:latin typeface="Arial"/>
                </a:defRPr>
              </a:pPr>
              <a:endParaRPr sz="700" dirty="0"/>
            </a:p>
            <a:p>
              <a:pPr>
                <a:defRPr sz="850" b="1">
                  <a:latin typeface="Arial"/>
                </a:defRPr>
              </a:pPr>
              <a:r>
                <a:rPr sz="800" dirty="0"/>
                <a:t>Major risks: What could break our plan:</a:t>
              </a:r>
            </a:p>
            <a:p>
              <a:pPr>
                <a:defRPr sz="750" b="0">
                  <a:latin typeface="Arial"/>
                </a:defRPr>
              </a:pPr>
              <a:r>
                <a:rPr sz="700" dirty="0"/>
                <a:t>• Supply Chain Disruption: Fluctuations in components or microchip availability affecting production costs.</a:t>
              </a:r>
            </a:p>
            <a:p>
              <a:pPr>
                <a:defRPr sz="750" b="0">
                  <a:latin typeface="Arial"/>
                </a:defRPr>
              </a:pPr>
              <a:r>
                <a:rPr sz="700" dirty="0"/>
                <a:t>• The Novelty Fatigue: If the interactive experience feels too static, institutions will cancel their recurring software subscriptions.</a:t>
              </a:r>
            </a:p>
          </p:txBody>
        </p:sp>
      </p:grpSp>
    </p:spTree>
    <p:extLst>
      <p:ext uri="{BB962C8B-B14F-4D97-AF65-F5344CB8AC3E}">
        <p14:creationId xmlns:p14="http://schemas.microsoft.com/office/powerpoint/2010/main" val="13315708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71E56F1-A64D-3D99-561A-C2565B469B5B}"/>
              </a:ext>
            </a:extLst>
          </p:cNvPr>
          <p:cNvSpPr>
            <a:spLocks noGrp="1"/>
          </p:cNvSpPr>
          <p:nvPr>
            <p:ph type="title"/>
          </p:nvPr>
        </p:nvSpPr>
        <p:spPr>
          <a:xfrm>
            <a:off x="334964" y="1"/>
            <a:ext cx="11857036" cy="720000"/>
          </a:xfrm>
        </p:spPr>
        <p:txBody>
          <a:bodyPr/>
          <a:lstStyle/>
          <a:p>
            <a:r>
              <a:rPr lang="en-US" dirty="0"/>
              <a:t>Design the Offer</a:t>
            </a:r>
            <a:endParaRPr lang="en-GB" dirty="0"/>
          </a:p>
        </p:txBody>
      </p:sp>
      <p:sp>
        <p:nvSpPr>
          <p:cNvPr id="5" name="Date Placeholder 4">
            <a:extLst>
              <a:ext uri="{FF2B5EF4-FFF2-40B4-BE49-F238E27FC236}">
                <a16:creationId xmlns:a16="http://schemas.microsoft.com/office/drawing/2014/main" id="{BCB9941A-C3BE-DAEF-6D9B-980AABA75480}"/>
              </a:ext>
            </a:extLst>
          </p:cNvPr>
          <p:cNvSpPr>
            <a:spLocks noGrp="1"/>
          </p:cNvSpPr>
          <p:nvPr>
            <p:ph type="dt" sz="half" idx="10"/>
          </p:nvPr>
        </p:nvSpPr>
        <p:spPr>
          <a:xfrm>
            <a:off x="2216" y="6237288"/>
            <a:ext cx="332747" cy="648096"/>
          </a:xfrm>
        </p:spPr>
        <p:txBody>
          <a:bodyPr/>
          <a:lstStyle/>
          <a:p>
            <a:r>
              <a:t>31/05/26</a:t>
            </a:r>
          </a:p>
        </p:txBody>
      </p:sp>
      <p:sp>
        <p:nvSpPr>
          <p:cNvPr id="7" name="Slide Number Placeholder 6">
            <a:extLst>
              <a:ext uri="{FF2B5EF4-FFF2-40B4-BE49-F238E27FC236}">
                <a16:creationId xmlns:a16="http://schemas.microsoft.com/office/drawing/2014/main" id="{BCCE3701-30BB-6F18-B7EF-CAFBA0668A82}"/>
              </a:ext>
            </a:extLst>
          </p:cNvPr>
          <p:cNvSpPr>
            <a:spLocks noGrp="1"/>
          </p:cNvSpPr>
          <p:nvPr>
            <p:ph type="sldNum" sz="quarter" idx="11"/>
          </p:nvPr>
        </p:nvSpPr>
        <p:spPr>
          <a:xfrm>
            <a:off x="8918576" y="6634798"/>
            <a:ext cx="2938104" cy="216000"/>
          </a:xfrm>
        </p:spPr>
        <p:txBody>
          <a:bodyPr/>
          <a:lstStyle/>
          <a:p>
            <a:fld id="{76277A8F-E207-A04D-9DAB-D29F92A0BD80}" type="slidenum">
              <a:rPr lang="en-US" smtClean="0"/>
              <a:pPr/>
              <a:t>1</a:t>
            </a:fld>
            <a:endParaRPr lang="en-US"/>
          </a:p>
        </p:txBody>
      </p:sp>
      <p:sp>
        <p:nvSpPr>
          <p:cNvPr id="6" name="Footer Placeholder 5">
            <a:extLst>
              <a:ext uri="{FF2B5EF4-FFF2-40B4-BE49-F238E27FC236}">
                <a16:creationId xmlns:a16="http://schemas.microsoft.com/office/drawing/2014/main" id="{2162F3A1-787F-8D2C-5960-6A6C1D05503B}"/>
              </a:ext>
            </a:extLst>
          </p:cNvPr>
          <p:cNvSpPr>
            <a:spLocks noGrp="1"/>
          </p:cNvSpPr>
          <p:nvPr>
            <p:ph type="ftr" sz="quarter" idx="12"/>
          </p:nvPr>
        </p:nvSpPr>
        <p:spPr>
          <a:xfrm>
            <a:off x="4038600" y="6634798"/>
            <a:ext cx="4114800" cy="216000"/>
          </a:xfrm>
        </p:spPr>
        <p:txBody>
          <a:bodyPr/>
          <a:lstStyle/>
          <a:p>
            <a:r>
              <a:t>URBAN GLOW GRID</a:t>
            </a:r>
          </a:p>
        </p:txBody>
      </p:sp>
      <p:sp>
        <p:nvSpPr>
          <p:cNvPr id="12" name="Content Placeholder 11">
            <a:extLst>
              <a:ext uri="{FF2B5EF4-FFF2-40B4-BE49-F238E27FC236}">
                <a16:creationId xmlns:a16="http://schemas.microsoft.com/office/drawing/2014/main" id="{7624D69F-9101-5741-7DB4-B94D10D7C5DF}"/>
              </a:ext>
            </a:extLst>
          </p:cNvPr>
          <p:cNvSpPr>
            <a:spLocks noGrp="1"/>
          </p:cNvSpPr>
          <p:nvPr>
            <p:ph sz="quarter" idx="13"/>
          </p:nvPr>
        </p:nvSpPr>
        <p:spPr/>
        <p:txBody>
          <a:bodyPr/>
          <a:lstStyle/>
          <a:p>
            <a:r>
              <a:t>Customers &amp; problems / needs:</a:t>
            </a:r>
          </a:p>
          <a:p>
            <a:r>
              <a:t>	Problem: Urban energy usage is abstract, invisible, and delayed (monthly bills). Citizens cannot optimize what they cannot see.</a:t>
            </a:r>
          </a:p>
          <a:p>
            <a:r>
              <a:t>	Need: Public spaces and municipal bodies need highly interactive, gamified tools to translate complex energy distribution grid challenges into intuitive, emotional human experiences.</a:t>
            </a:r>
          </a:p>
          <a:p>
            <a:endParaRPr/>
          </a:p>
          <a:p>
            <a:r>
              <a:t>Solutions and concepts / architecture:</a:t>
            </a:r>
          </a:p>
          <a:p>
            <a:r>
              <a:t>	The Hero Product: An interactive digital twin &amp; hardware layout of Paris at a strict 1:15,000 scale.</a:t>
            </a:r>
          </a:p>
          <a:p>
            <a:r>
              <a:t>	System Architecture: A 20-zone physical wood matrix powered by an affordable ESP32 microcontroller, driven by an organic, responsive HSL "breathing light" logic.</a:t>
            </a:r>
          </a:p>
          <a:p>
            <a:endParaRPr/>
          </a:p>
          <a:p>
            <a:r>
              <a:t>Value and Pricing: How we win, rough price logic:</a:t>
            </a:r>
          </a:p>
          <a:p>
            <a:r>
              <a:t>	How We Win: Gamified Social Equity. We compete on visceral engagement and extreme cost-efficiency (sub-25€ DIY building blocks vs. thousands of euros for industrial smart displays).</a:t>
            </a:r>
          </a:p>
          <a:p>
            <a:r>
              <a:t>	Price Logic: B2B/B2G subscription-based pricing for custom city layouts, paired with a freemium open-source software model for universities and schools.</a:t>
            </a:r>
          </a:p>
        </p:txBody>
      </p:sp>
    </p:spTree>
    <p:extLst>
      <p:ext uri="{BB962C8B-B14F-4D97-AF65-F5344CB8AC3E}">
        <p14:creationId xmlns:p14="http://schemas.microsoft.com/office/powerpoint/2010/main" val="1042291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3FDF4-B8D1-456B-E361-F43AC53B4D17}"/>
              </a:ext>
            </a:extLst>
          </p:cNvPr>
          <p:cNvSpPr>
            <a:spLocks noGrp="1"/>
          </p:cNvSpPr>
          <p:nvPr>
            <p:ph type="title"/>
          </p:nvPr>
        </p:nvSpPr>
        <p:spPr/>
        <p:txBody>
          <a:bodyPr/>
          <a:lstStyle/>
          <a:p>
            <a:r>
              <a:rPr lang="en-GB" dirty="0"/>
              <a:t>Growth ambition and scope in China</a:t>
            </a:r>
          </a:p>
        </p:txBody>
      </p:sp>
      <p:sp>
        <p:nvSpPr>
          <p:cNvPr id="3" name="Date Placeholder 2">
            <a:extLst>
              <a:ext uri="{FF2B5EF4-FFF2-40B4-BE49-F238E27FC236}">
                <a16:creationId xmlns:a16="http://schemas.microsoft.com/office/drawing/2014/main" id="{BDDAC6EB-372C-EE36-F2EE-E40473A1CD10}"/>
              </a:ext>
            </a:extLst>
          </p:cNvPr>
          <p:cNvSpPr>
            <a:spLocks noGrp="1"/>
          </p:cNvSpPr>
          <p:nvPr>
            <p:ph type="dt" sz="half" idx="10"/>
          </p:nvPr>
        </p:nvSpPr>
        <p:spPr/>
        <p:txBody>
          <a:bodyPr/>
          <a:lstStyle/>
          <a:p>
            <a:r>
              <a:t>31/05/26</a:t>
            </a:r>
          </a:p>
        </p:txBody>
      </p:sp>
      <p:sp>
        <p:nvSpPr>
          <p:cNvPr id="4" name="Slide Number Placeholder 3">
            <a:extLst>
              <a:ext uri="{FF2B5EF4-FFF2-40B4-BE49-F238E27FC236}">
                <a16:creationId xmlns:a16="http://schemas.microsoft.com/office/drawing/2014/main" id="{0626A258-2921-0F4C-264A-A9E8367423D0}"/>
              </a:ext>
            </a:extLst>
          </p:cNvPr>
          <p:cNvSpPr>
            <a:spLocks noGrp="1"/>
          </p:cNvSpPr>
          <p:nvPr>
            <p:ph type="sldNum" sz="quarter" idx="11"/>
          </p:nvPr>
        </p:nvSpPr>
        <p:spPr/>
        <p:txBody>
          <a:bodyPr/>
          <a:lstStyle/>
          <a:p>
            <a:fld id="{76277A8F-E207-A04D-9DAB-D29F92A0BD80}" type="slidenum">
              <a:rPr lang="en-US" smtClean="0"/>
              <a:pPr/>
              <a:t>2</a:t>
            </a:fld>
            <a:endParaRPr lang="en-US"/>
          </a:p>
        </p:txBody>
      </p:sp>
      <p:sp>
        <p:nvSpPr>
          <p:cNvPr id="5" name="Footer Placeholder 4">
            <a:extLst>
              <a:ext uri="{FF2B5EF4-FFF2-40B4-BE49-F238E27FC236}">
                <a16:creationId xmlns:a16="http://schemas.microsoft.com/office/drawing/2014/main" id="{4EBA8ED3-4954-A72E-7F61-57A45D40865C}"/>
              </a:ext>
            </a:extLst>
          </p:cNvPr>
          <p:cNvSpPr>
            <a:spLocks noGrp="1"/>
          </p:cNvSpPr>
          <p:nvPr>
            <p:ph type="ftr" sz="quarter" idx="12"/>
          </p:nvPr>
        </p:nvSpPr>
        <p:spPr/>
        <p:txBody>
          <a:bodyPr/>
          <a:lstStyle/>
          <a:p>
            <a:r>
              <a:t>URBAN GLOW GRID</a:t>
            </a:r>
          </a:p>
        </p:txBody>
      </p:sp>
      <p:sp>
        <p:nvSpPr>
          <p:cNvPr id="6" name="Content Placeholder 5">
            <a:extLst>
              <a:ext uri="{FF2B5EF4-FFF2-40B4-BE49-F238E27FC236}">
                <a16:creationId xmlns:a16="http://schemas.microsoft.com/office/drawing/2014/main" id="{D0B0EAF1-FEDA-BB25-3153-AA3E29158979}"/>
              </a:ext>
            </a:extLst>
          </p:cNvPr>
          <p:cNvSpPr>
            <a:spLocks noGrp="1"/>
          </p:cNvSpPr>
          <p:nvPr>
            <p:ph sz="quarter" idx="13"/>
          </p:nvPr>
        </p:nvSpPr>
        <p:spPr/>
        <p:txBody>
          <a:bodyPr/>
          <a:lstStyle/>
          <a:p>
            <a:r>
              <a:t>Growth objective: What does ‘success’ look like in 3–5 years?</a:t>
            </a:r>
          </a:p>
          <a:p>
            <a:r>
              <a:t>	Deploy the "Urban Glow Grid" platform across 5 major European and Asian Smart Cities—specifically targeting Shanghai, Shenzhen, Singapore, Paris, and Amsterdam—as an official interactive B2B/B2G civic tech exhibition tool.</a:t>
            </a:r>
          </a:p>
          <a:p>
            <a:r>
              <a:t>	Reach 10,000+ active online simulator users and establish commercial co-sponsorships with academic innovation labs and regional energy councils.</a:t>
            </a:r>
          </a:p>
          <a:p>
            <a:endParaRPr/>
          </a:p>
          <a:p>
            <a:r>
              <a:t>Primary target customer / segment:</a:t>
            </a:r>
          </a:p>
          <a:p>
            <a:r>
              <a:t>	B2B / B2G: Smart City Museums, Science Centers, Municipal Education Boards, and ESG Real Estate Developers.</a:t>
            </a:r>
          </a:p>
          <a:p>
            <a:endParaRPr/>
          </a:p>
          <a:p>
            <a:r>
              <a:t>Current stage:</a:t>
            </a:r>
          </a:p>
          <a:p>
            <a:r>
              <a:t>	MVP / Low-cost Pilot: Low-fidelity physical 80x60cm wooden matrix prototype (25€ budget limit) paired with an active local JavaScript web simulator core.</a:t>
            </a:r>
          </a:p>
        </p:txBody>
      </p:sp>
    </p:spTree>
    <p:extLst>
      <p:ext uri="{BB962C8B-B14F-4D97-AF65-F5344CB8AC3E}">
        <p14:creationId xmlns:p14="http://schemas.microsoft.com/office/powerpoint/2010/main" val="1451381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FEC325A-935E-BB1A-3505-C937DBFB3484}"/>
              </a:ext>
            </a:extLst>
          </p:cNvPr>
          <p:cNvSpPr>
            <a:spLocks noGrp="1"/>
          </p:cNvSpPr>
          <p:nvPr>
            <p:ph type="title"/>
          </p:nvPr>
        </p:nvSpPr>
        <p:spPr/>
        <p:txBody>
          <a:bodyPr/>
          <a:lstStyle/>
          <a:p>
            <a:r>
              <a:rPr lang="en-US" dirty="0"/>
              <a:t>Deliver the Value</a:t>
            </a:r>
            <a:endParaRPr lang="en-GB" dirty="0"/>
          </a:p>
        </p:txBody>
      </p:sp>
      <p:sp>
        <p:nvSpPr>
          <p:cNvPr id="2" name="Date Placeholder 1">
            <a:extLst>
              <a:ext uri="{FF2B5EF4-FFF2-40B4-BE49-F238E27FC236}">
                <a16:creationId xmlns:a16="http://schemas.microsoft.com/office/drawing/2014/main" id="{0C06D3F2-9A1F-4489-498A-55882FDFD2B3}"/>
              </a:ext>
            </a:extLst>
          </p:cNvPr>
          <p:cNvSpPr>
            <a:spLocks noGrp="1"/>
          </p:cNvSpPr>
          <p:nvPr>
            <p:ph type="dt" sz="half" idx="10"/>
          </p:nvPr>
        </p:nvSpPr>
        <p:spPr/>
        <p:txBody>
          <a:bodyPr/>
          <a:lstStyle/>
          <a:p>
            <a:r>
              <a:t>31/05/26</a:t>
            </a:r>
          </a:p>
        </p:txBody>
      </p:sp>
      <p:sp>
        <p:nvSpPr>
          <p:cNvPr id="3" name="Slide Number Placeholder 2">
            <a:extLst>
              <a:ext uri="{FF2B5EF4-FFF2-40B4-BE49-F238E27FC236}">
                <a16:creationId xmlns:a16="http://schemas.microsoft.com/office/drawing/2014/main" id="{FA3B63B8-00B9-EC0E-4F10-991D5074F226}"/>
              </a:ext>
            </a:extLst>
          </p:cNvPr>
          <p:cNvSpPr>
            <a:spLocks noGrp="1"/>
          </p:cNvSpPr>
          <p:nvPr>
            <p:ph type="sldNum" sz="quarter" idx="11"/>
          </p:nvPr>
        </p:nvSpPr>
        <p:spPr/>
        <p:txBody>
          <a:bodyPr/>
          <a:lstStyle/>
          <a:p>
            <a:fld id="{76277A8F-E207-A04D-9DAB-D29F92A0BD80}" type="slidenum">
              <a:rPr lang="en-US" smtClean="0"/>
              <a:pPr/>
              <a:t>3</a:t>
            </a:fld>
            <a:endParaRPr lang="en-US"/>
          </a:p>
        </p:txBody>
      </p:sp>
      <p:sp>
        <p:nvSpPr>
          <p:cNvPr id="4" name="Footer Placeholder 3">
            <a:extLst>
              <a:ext uri="{FF2B5EF4-FFF2-40B4-BE49-F238E27FC236}">
                <a16:creationId xmlns:a16="http://schemas.microsoft.com/office/drawing/2014/main" id="{70A1051E-EC18-0FD0-6C23-B7E1134B124E}"/>
              </a:ext>
            </a:extLst>
          </p:cNvPr>
          <p:cNvSpPr>
            <a:spLocks noGrp="1"/>
          </p:cNvSpPr>
          <p:nvPr>
            <p:ph type="ftr" sz="quarter" idx="12"/>
          </p:nvPr>
        </p:nvSpPr>
        <p:spPr/>
        <p:txBody>
          <a:bodyPr/>
          <a:lstStyle/>
          <a:p>
            <a:r>
              <a:t>URBAN GLOW GRID</a:t>
            </a:r>
          </a:p>
        </p:txBody>
      </p:sp>
      <p:sp>
        <p:nvSpPr>
          <p:cNvPr id="6" name="Content Placeholder 5">
            <a:extLst>
              <a:ext uri="{FF2B5EF4-FFF2-40B4-BE49-F238E27FC236}">
                <a16:creationId xmlns:a16="http://schemas.microsoft.com/office/drawing/2014/main" id="{092F8CD4-901C-26FD-269E-EE1442EDA992}"/>
              </a:ext>
            </a:extLst>
          </p:cNvPr>
          <p:cNvSpPr>
            <a:spLocks noGrp="1"/>
          </p:cNvSpPr>
          <p:nvPr>
            <p:ph sz="quarter" idx="13"/>
          </p:nvPr>
        </p:nvSpPr>
        <p:spPr/>
        <p:txBody>
          <a:bodyPr/>
          <a:lstStyle/>
          <a:p>
            <a:r>
              <a:t>Go-to-market: Channels, sales approach, type of customers:</a:t>
            </a:r>
          </a:p>
          <a:p>
            <a:r>
              <a:t>	Key Message: "Make the invisible tangible: Experience the real-time heartbeat of your city's energy grid."</a:t>
            </a:r>
          </a:p>
          <a:p>
            <a:r>
              <a:t>	Channels: Direct inbound sales to Science &amp; Tech museums, and partnerships with University Innovation Hubs (e.g., UTSEUS).</a:t>
            </a:r>
          </a:p>
          <a:p>
            <a:r>
              <a:t>	Sales Approach: High-impact, visual "Elevator Pitch" demonstrations utilizing the interactive dashboard to secure pilot exhibition spaces.</a:t>
            </a:r>
          </a:p>
          <a:p>
            <a:endParaRPr/>
          </a:p>
          <a:p>
            <a:r>
              <a:t>Delivery &amp; capacity: Where/how is it produced or hosted:</a:t>
            </a:r>
          </a:p>
          <a:p>
            <a:r>
              <a:t>	Hardware: Sourced entirely from open markets in mainland China (Taobao) for ultra-low-cost components; manufactured using campus fablabs.</a:t>
            </a:r>
          </a:p>
          <a:p>
            <a:r>
              <a:t>	Software: Hosted globally via lightweight, fast-loading, client-side web hosting (GitHub Pages / Vercel), requiring zero backend database upkeep for maximum scalability.</a:t>
            </a:r>
          </a:p>
          <a:p>
            <a:endParaRPr/>
          </a:p>
          <a:p>
            <a:r>
              <a:t>How many customers/units we can roughly serve now:</a:t>
            </a:r>
          </a:p>
          <a:p>
            <a:r>
              <a:t>	Current Capacity: 1 physical unit (hand-wired assembly loop), but capable of supporting unlimited concurrent digital web simulator instances internationally.</a:t>
            </a:r>
          </a:p>
        </p:txBody>
      </p:sp>
    </p:spTree>
    <p:extLst>
      <p:ext uri="{BB962C8B-B14F-4D97-AF65-F5344CB8AC3E}">
        <p14:creationId xmlns:p14="http://schemas.microsoft.com/office/powerpoint/2010/main" val="695972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13313-B9A2-F580-4896-D204D5105DE5}"/>
              </a:ext>
            </a:extLst>
          </p:cNvPr>
          <p:cNvSpPr>
            <a:spLocks noGrp="1"/>
          </p:cNvSpPr>
          <p:nvPr>
            <p:ph type="title"/>
          </p:nvPr>
        </p:nvSpPr>
        <p:spPr/>
        <p:txBody>
          <a:bodyPr/>
          <a:lstStyle/>
          <a:p>
            <a:r>
              <a:rPr lang="en-US" dirty="0"/>
              <a:t>Run the Company</a:t>
            </a:r>
            <a:endParaRPr lang="en-GB" dirty="0"/>
          </a:p>
        </p:txBody>
      </p:sp>
      <p:sp>
        <p:nvSpPr>
          <p:cNvPr id="3" name="Date Placeholder 2">
            <a:extLst>
              <a:ext uri="{FF2B5EF4-FFF2-40B4-BE49-F238E27FC236}">
                <a16:creationId xmlns:a16="http://schemas.microsoft.com/office/drawing/2014/main" id="{B19279E6-976C-60E4-23AD-B1D8DB140B5C}"/>
              </a:ext>
            </a:extLst>
          </p:cNvPr>
          <p:cNvSpPr>
            <a:spLocks noGrp="1"/>
          </p:cNvSpPr>
          <p:nvPr>
            <p:ph type="dt" sz="half" idx="10"/>
          </p:nvPr>
        </p:nvSpPr>
        <p:spPr/>
        <p:txBody>
          <a:bodyPr/>
          <a:lstStyle/>
          <a:p>
            <a:r>
              <a:t>31/05/26</a:t>
            </a:r>
          </a:p>
        </p:txBody>
      </p:sp>
      <p:sp>
        <p:nvSpPr>
          <p:cNvPr id="4" name="Slide Number Placeholder 3">
            <a:extLst>
              <a:ext uri="{FF2B5EF4-FFF2-40B4-BE49-F238E27FC236}">
                <a16:creationId xmlns:a16="http://schemas.microsoft.com/office/drawing/2014/main" id="{BF58C233-F564-87CE-F33C-616C3303C857}"/>
              </a:ext>
            </a:extLst>
          </p:cNvPr>
          <p:cNvSpPr>
            <a:spLocks noGrp="1"/>
          </p:cNvSpPr>
          <p:nvPr>
            <p:ph type="sldNum" sz="quarter" idx="11"/>
          </p:nvPr>
        </p:nvSpPr>
        <p:spPr/>
        <p:txBody>
          <a:bodyPr/>
          <a:lstStyle/>
          <a:p>
            <a:fld id="{76277A8F-E207-A04D-9DAB-D29F92A0BD80}" type="slidenum">
              <a:rPr lang="en-US" smtClean="0"/>
              <a:pPr/>
              <a:t>4</a:t>
            </a:fld>
            <a:endParaRPr lang="en-US"/>
          </a:p>
        </p:txBody>
      </p:sp>
      <p:sp>
        <p:nvSpPr>
          <p:cNvPr id="5" name="Footer Placeholder 4">
            <a:extLst>
              <a:ext uri="{FF2B5EF4-FFF2-40B4-BE49-F238E27FC236}">
                <a16:creationId xmlns:a16="http://schemas.microsoft.com/office/drawing/2014/main" id="{4E844825-9D15-4D19-DE5A-393F1F6924B7}"/>
              </a:ext>
            </a:extLst>
          </p:cNvPr>
          <p:cNvSpPr>
            <a:spLocks noGrp="1"/>
          </p:cNvSpPr>
          <p:nvPr>
            <p:ph type="ftr" sz="quarter" idx="12"/>
          </p:nvPr>
        </p:nvSpPr>
        <p:spPr/>
        <p:txBody>
          <a:bodyPr/>
          <a:lstStyle/>
          <a:p>
            <a:r>
              <a:t>URBAN GLOW GRID</a:t>
            </a:r>
          </a:p>
        </p:txBody>
      </p:sp>
      <p:sp>
        <p:nvSpPr>
          <p:cNvPr id="6" name="Content Placeholder 5">
            <a:extLst>
              <a:ext uri="{FF2B5EF4-FFF2-40B4-BE49-F238E27FC236}">
                <a16:creationId xmlns:a16="http://schemas.microsoft.com/office/drawing/2014/main" id="{B6DFA1DF-72B4-66B5-255E-3D801831A6B9}"/>
              </a:ext>
            </a:extLst>
          </p:cNvPr>
          <p:cNvSpPr>
            <a:spLocks noGrp="1"/>
          </p:cNvSpPr>
          <p:nvPr>
            <p:ph sz="quarter" idx="13"/>
          </p:nvPr>
        </p:nvSpPr>
        <p:spPr/>
        <p:txBody>
          <a:bodyPr/>
          <a:lstStyle/>
          <a:p>
            <a:r>
              <a:t>People &amp; roles: Who does what, evolution &amp; missing skills:</a:t>
            </a:r>
          </a:p>
          <a:p>
            <a:r>
              <a:t>	Abir (CEO): Product vision, narrative design, and strategic stakeholder pitch alignment.</a:t>
            </a:r>
          </a:p>
          <a:p>
            <a:r>
              <a:t>	Sofiane (CTO): ESP32 system engineering, HSL lighting logic programming, and hardware wire routing.</a:t>
            </a:r>
          </a:p>
          <a:p>
            <a:r>
              <a:t>	Mohamed (Creative Director): 3D UI/UX design, Paris map scaling, and asset creation.</a:t>
            </a:r>
          </a:p>
          <a:p>
            <a:r>
              <a:t>	Ismail (Operations &amp; Sourcing): Component procurement via Taobao, budget tracking, and fablab manufacturing coordination.</a:t>
            </a:r>
          </a:p>
          <a:p>
            <a:r>
              <a:t>	Nouh TARI (Head of Sales &amp; Commercial): Driving B2B/B2G contracts, museum relationships, and market expansion.</a:t>
            </a:r>
          </a:p>
          <a:p>
            <a:r>
              <a:t>	Role Evolution: As we scale, founders will transition from "hands-on makers" to department managers leading specialized teams.</a:t>
            </a:r>
          </a:p>
          <a:p>
            <a:r>
              <a:t>	Critical Missing Skills: Industrial product designer (for scalable plastic casing), B2B Legal/Compliance Specialist, and a Customer Success Manager.</a:t>
            </a:r>
          </a:p>
          <a:p>
            <a:endParaRPr/>
          </a:p>
          <a:p>
            <a:r>
              <a:t>Money &amp; Company Origins: Where/how is it financed:</a:t>
            </a:r>
          </a:p>
          <a:p>
            <a:r>
              <a:t>	Company Creation: Born from a UTSEUS "Games for Change" academic project. The company was founded on the challenge of building a high-impact IoT tool with a strict student budget constraint.</a:t>
            </a:r>
          </a:p>
          <a:p>
            <a:r>
              <a:t>	Current Funding: Bootstrapped via the 25€ (200 RMB) university lab grant.</a:t>
            </a:r>
          </a:p>
          <a:p>
            <a:r>
              <a:t>	Scale Financing Plan: Transitioning to regional green incubation grants and academic innovation funds in Shanghai/Europe to fund V2 manufacturing.</a:t>
            </a:r>
          </a:p>
          <a:p>
            <a:endParaRPr/>
          </a:p>
          <a:p>
            <a:r>
              <a:t>Legal &amp; governance:</a:t>
            </a:r>
          </a:p>
          <a:p>
            <a:r>
              <a:t>	Compliance with open-source software distributions (MIT License framework).</a:t>
            </a:r>
          </a:p>
          <a:p>
            <a:r>
              <a:t>	Adherence to municipal lab health, safety, and electrical standards.</a:t>
            </a:r>
          </a:p>
        </p:txBody>
      </p:sp>
    </p:spTree>
    <p:extLst>
      <p:ext uri="{BB962C8B-B14F-4D97-AF65-F5344CB8AC3E}">
        <p14:creationId xmlns:p14="http://schemas.microsoft.com/office/powerpoint/2010/main" val="2063676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24592-E3E1-AA68-2DFD-2E8F02A6EE06}"/>
              </a:ext>
            </a:extLst>
          </p:cNvPr>
          <p:cNvSpPr>
            <a:spLocks noGrp="1"/>
          </p:cNvSpPr>
          <p:nvPr>
            <p:ph type="title"/>
          </p:nvPr>
        </p:nvSpPr>
        <p:spPr/>
        <p:txBody>
          <a:bodyPr/>
          <a:lstStyle/>
          <a:p>
            <a:r>
              <a:rPr lang="en-GB" dirty="0"/>
              <a:t> Risks, assumptions, open questions</a:t>
            </a:r>
          </a:p>
        </p:txBody>
      </p:sp>
      <p:sp>
        <p:nvSpPr>
          <p:cNvPr id="3" name="Date Placeholder 2">
            <a:extLst>
              <a:ext uri="{FF2B5EF4-FFF2-40B4-BE49-F238E27FC236}">
                <a16:creationId xmlns:a16="http://schemas.microsoft.com/office/drawing/2014/main" id="{BACCE861-7377-C2D9-F9CF-7B6A28391479}"/>
              </a:ext>
            </a:extLst>
          </p:cNvPr>
          <p:cNvSpPr>
            <a:spLocks noGrp="1"/>
          </p:cNvSpPr>
          <p:nvPr>
            <p:ph type="dt" sz="half" idx="10"/>
          </p:nvPr>
        </p:nvSpPr>
        <p:spPr/>
        <p:txBody>
          <a:bodyPr/>
          <a:lstStyle/>
          <a:p>
            <a:r>
              <a:t>31/05/26</a:t>
            </a:r>
          </a:p>
        </p:txBody>
      </p:sp>
      <p:sp>
        <p:nvSpPr>
          <p:cNvPr id="4" name="Slide Number Placeholder 3">
            <a:extLst>
              <a:ext uri="{FF2B5EF4-FFF2-40B4-BE49-F238E27FC236}">
                <a16:creationId xmlns:a16="http://schemas.microsoft.com/office/drawing/2014/main" id="{8CCE93FF-5511-A344-C859-572339FB0592}"/>
              </a:ext>
            </a:extLst>
          </p:cNvPr>
          <p:cNvSpPr>
            <a:spLocks noGrp="1"/>
          </p:cNvSpPr>
          <p:nvPr>
            <p:ph type="sldNum" sz="quarter" idx="11"/>
          </p:nvPr>
        </p:nvSpPr>
        <p:spPr/>
        <p:txBody>
          <a:bodyPr/>
          <a:lstStyle/>
          <a:p>
            <a:fld id="{76277A8F-E207-A04D-9DAB-D29F92A0BD80}" type="slidenum">
              <a:rPr lang="en-US" smtClean="0"/>
              <a:pPr/>
              <a:t>5</a:t>
            </a:fld>
            <a:endParaRPr lang="en-US"/>
          </a:p>
        </p:txBody>
      </p:sp>
      <p:sp>
        <p:nvSpPr>
          <p:cNvPr id="5" name="Footer Placeholder 4">
            <a:extLst>
              <a:ext uri="{FF2B5EF4-FFF2-40B4-BE49-F238E27FC236}">
                <a16:creationId xmlns:a16="http://schemas.microsoft.com/office/drawing/2014/main" id="{EA533B3D-D456-709D-A2F5-A43F46454E6E}"/>
              </a:ext>
            </a:extLst>
          </p:cNvPr>
          <p:cNvSpPr>
            <a:spLocks noGrp="1"/>
          </p:cNvSpPr>
          <p:nvPr>
            <p:ph type="ftr" sz="quarter" idx="12"/>
          </p:nvPr>
        </p:nvSpPr>
        <p:spPr/>
        <p:txBody>
          <a:bodyPr/>
          <a:lstStyle/>
          <a:p>
            <a:r>
              <a:t>URBAN GLOW GRID</a:t>
            </a:r>
          </a:p>
        </p:txBody>
      </p:sp>
      <p:sp>
        <p:nvSpPr>
          <p:cNvPr id="6" name="Content Placeholder 5">
            <a:extLst>
              <a:ext uri="{FF2B5EF4-FFF2-40B4-BE49-F238E27FC236}">
                <a16:creationId xmlns:a16="http://schemas.microsoft.com/office/drawing/2014/main" id="{EC61C439-F889-CD78-A1F3-0E04F269CBFE}"/>
              </a:ext>
            </a:extLst>
          </p:cNvPr>
          <p:cNvSpPr>
            <a:spLocks noGrp="1"/>
          </p:cNvSpPr>
          <p:nvPr>
            <p:ph sz="quarter" idx="13"/>
          </p:nvPr>
        </p:nvSpPr>
        <p:spPr/>
        <p:txBody>
          <a:bodyPr/>
          <a:lstStyle/>
          <a:p>
            <a:r>
              <a:t>Key assumptions: Things we take for granted:</a:t>
            </a:r>
          </a:p>
          <a:p>
            <a:r>
              <a:t>	Institutional buyers prefer physical, tactile, wooden layouts over plain display interfaces.</a:t>
            </a:r>
          </a:p>
          <a:p>
            <a:r>
              <a:t>	Real-time carbon intensity data metrics (RTE/ADEME API models) can be clearly simplified for everyday urban citizens.</a:t>
            </a:r>
          </a:p>
          <a:p>
            <a:endParaRPr/>
          </a:p>
          <a:p>
            <a:r>
              <a:t>Unknowns / must-learn (Must be validated before big investment &amp; Action Plan):</a:t>
            </a:r>
          </a:p>
          <a:p>
            <a:r>
              <a:t>	Will users engage long-term or treat it as a short-lived gimmick? -&gt; Action Plan: Deploy a 4-week beta test in a Shanghai museum and track average session duration and repeat visits using hidden software analytics.</a:t>
            </a:r>
          </a:p>
          <a:p>
            <a:r>
              <a:t>	What is the exact wear-and-tear lifespan of cheap mechanical switches? -&gt; Action Plan: Build an automated mechanical testing rig in the lab to simulate 10,000 presses and record failure rates before mass ordering.</a:t>
            </a:r>
          </a:p>
          <a:p>
            <a:r>
              <a:t>	What are the exact certification costs and compliance pathways for educational hardware? -&gt; Action Plan: Consult a legal expert specializing in EU CE marking and China CCC certification by Q3 to map out regulatory costs.</a:t>
            </a:r>
          </a:p>
          <a:p>
            <a:endParaRPr/>
          </a:p>
          <a:p>
            <a:r>
              <a:t>Major risks: What could break our plan:</a:t>
            </a:r>
          </a:p>
          <a:p>
            <a:r>
              <a:t>	Supply Chain Disruption: Fluctuations in components or microchip availability affecting production costs.</a:t>
            </a:r>
          </a:p>
          <a:p>
            <a:r>
              <a:t>	The Novelty Fatigue: If the interactive experience feels too static, institutions will cancel their recurring software subscriptions.</a:t>
            </a:r>
          </a:p>
        </p:txBody>
      </p:sp>
    </p:spTree>
    <p:extLst>
      <p:ext uri="{BB962C8B-B14F-4D97-AF65-F5344CB8AC3E}">
        <p14:creationId xmlns:p14="http://schemas.microsoft.com/office/powerpoint/2010/main" val="4227434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 FROM MVP to MSS</a:t>
            </a:r>
          </a:p>
        </p:txBody>
      </p:sp>
      <p:sp>
        <p:nvSpPr>
          <p:cNvPr id="3" name="Content Placeholder 2"/>
          <p:cNvSpPr>
            <a:spLocks noGrp="1"/>
          </p:cNvSpPr>
          <p:nvPr>
            <p:ph sz="quarter" idx="13"/>
          </p:nvPr>
        </p:nvSpPr>
        <p:spPr/>
        <p:txBody>
          <a:bodyPr/>
          <a:lstStyle/>
          <a:p>
            <a:r>
              <a:t>Growth ambition &amp; scope (Shenzhen, Paris, Shanghai, Amsterdam, Singapore):</a:t>
            </a:r>
          </a:p>
          <a:p>
            <a:r>
              <a:t>• Deploy the "Urban Glow Grid" platform across 5 strategic smart city hubs as an official interactive B2B/B2G civic tech workshop &amp; exhibition tool.</a:t>
            </a:r>
          </a:p>
          <a:p>
            <a:r>
              <a:t>• Target 10,000+ active online simulator users and establish commercial co-sponsorships with academic innovation labs and regional energy councils.</a:t>
            </a:r>
          </a:p>
          <a:p>
            <a:endParaRPr/>
          </a:p>
          <a:p>
            <a:r>
              <a:t>Current stage: Our MVP is:</a:t>
            </a:r>
          </a:p>
          <a:p>
            <a:r>
              <a:t>• Design the Offer: Low-fidelity 80x60cm wooden matrix prototype (25€ budget limit) representing 20 zones of Paris with ESP32 and HSL breathing lights, synchronized with a local JavaScript web simulator dashboard.</a:t>
            </a:r>
          </a:p>
          <a:p>
            <a:r>
              <a:t>• Deliver the Value: Direct outbound pitches to science museum curators and school directors. Physical assembly, hand-wired in the university lab; software hosted on GitHub Pages.</a:t>
            </a:r>
          </a:p>
          <a:p>
            <a:r>
              <a:t>• Run the Company: 5 student founders (Abir - CEO, Sofiane - CTO, Mohamed - Creative, Ismail - Ops, Nouh TARI - Sales). Bootstrapped via 25€ student grant. MIT License for software.</a:t>
            </a:r>
          </a:p>
          <a:p>
            <a:endParaRPr/>
          </a:p>
          <a:p>
            <a:r>
              <a:t>MSS: We can repeatedly deliver our solution across our initial market if we have at least:</a:t>
            </a:r>
          </a:p>
          <a:p>
            <a:r>
              <a:t>• Design the Offer: A modular, standardized physical layout (standard Paris arrondissement grid, scalable to other cities like Shanghai/Shenzhen), integrated with a robust B2B scenario worksheet set (Bastille Day, Heatwave, Cold Winter Night) and an automatic self-calibration dashboard.</a:t>
            </a:r>
          </a:p>
          <a:p>
            <a:r>
              <a:t>• Deliver the Value: Repeatable sales pipeline for educational museums and high school science workshops. Transition from manual hand-wiring to outsourcing printed circuit boards (PCBs) and campus 3D printing. Digital dashboard hosted on GitHub Pages/Vercel with automatic analytics.</a:t>
            </a:r>
          </a:p>
          <a:p>
            <a:r>
              <a:t>• Run the Company: Transition from student makers to dedicated department leads (Abir - Business, Mohamed - Design, Sofiane - Tech, Nouh TARI - Sales &amp; CRM). Secured a green incubation grant (approx. 2000€) for manufacturing. CE public safety marking obtained for unsupervised public classroom usage. Standard B2B rental contracts in place.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EBE6C5F-894A-AF52-4B6C-A8D83F2C3C99}"/>
              </a:ext>
            </a:extLst>
          </p:cNvPr>
          <p:cNvSpPr>
            <a:spLocks noGrp="1"/>
          </p:cNvSpPr>
          <p:nvPr>
            <p:ph type="ftr" sz="quarter" idx="11"/>
          </p:nvPr>
        </p:nvSpPr>
        <p:spPr>
          <a:xfrm>
            <a:off x="4165600" y="6309344"/>
            <a:ext cx="3860800" cy="216000"/>
          </a:xfrm>
        </p:spPr>
        <p:txBody>
          <a:bodyPr/>
          <a:lstStyle/>
          <a:p>
            <a:r>
              <a:rPr lang="en-GB" altLang="zh-CN"/>
              <a:t>© 2018-2026 Etienne Charlier (DIY AI) All Right Reserved</a:t>
            </a:r>
            <a:endParaRPr lang="en-US"/>
          </a:p>
        </p:txBody>
      </p:sp>
      <p:sp>
        <p:nvSpPr>
          <p:cNvPr id="3" name="Slide Number Placeholder 2">
            <a:extLst>
              <a:ext uri="{FF2B5EF4-FFF2-40B4-BE49-F238E27FC236}">
                <a16:creationId xmlns:a16="http://schemas.microsoft.com/office/drawing/2014/main" id="{429337EF-D51B-973D-6D62-53074732E9D6}"/>
              </a:ext>
            </a:extLst>
          </p:cNvPr>
          <p:cNvSpPr>
            <a:spLocks noGrp="1"/>
          </p:cNvSpPr>
          <p:nvPr>
            <p:ph type="sldNum" sz="quarter" idx="12"/>
          </p:nvPr>
        </p:nvSpPr>
        <p:spPr/>
        <p:txBody>
          <a:bodyPr/>
          <a:lstStyle/>
          <a:p>
            <a:fld id="{76277A8F-E207-A04D-9DAB-D29F92A0BD80}" type="slidenum">
              <a:rPr lang="en-US" smtClean="0"/>
              <a:pPr/>
              <a:t>7</a:t>
            </a:fld>
            <a:endParaRPr lang="en-US" dirty="0"/>
          </a:p>
        </p:txBody>
      </p:sp>
      <p:sp>
        <p:nvSpPr>
          <p:cNvPr id="4" name="TextBox 3"/>
          <p:cNvSpPr txBox="1"/>
          <p:nvPr/>
        </p:nvSpPr>
        <p:spPr>
          <a:xfrm>
            <a:off x="334964" y="1"/>
            <a:ext cx="11857036" cy="720000"/>
          </a:xfrm>
          <a:prstGeom prst="rect">
            <a:avLst/>
          </a:prstGeom>
          <a:noFill/>
        </p:spPr>
        <p:txBody>
          <a:bodyPr wrap="square">
            <a:spAutoFit/>
          </a:bodyPr>
          <a:lstStyle/>
          <a:p>
            <a:pPr>
              <a:defRPr sz="2200" b="1">
                <a:solidFill>
                  <a:srgbClr val="26788C"/>
                </a:solidFill>
                <a:latin typeface="Calibri"/>
              </a:defRPr>
            </a:pPr>
            <a:r>
              <a:t>2. Stage gates &amp; milestones</a:t>
            </a:r>
          </a:p>
        </p:txBody>
      </p:sp>
      <p:sp>
        <p:nvSpPr>
          <p:cNvPr id="5" name="TextBox 4"/>
          <p:cNvSpPr txBox="1"/>
          <p:nvPr/>
        </p:nvSpPr>
        <p:spPr>
          <a:xfrm rot="16200000">
            <a:off x="-450000" y="1350000"/>
            <a:ext cx="1400000" cy="300000"/>
          </a:xfrm>
          <a:prstGeom prst="rect">
            <a:avLst/>
          </a:prstGeom>
          <a:noFill/>
        </p:spPr>
        <p:txBody>
          <a:bodyPr wrap="square" lIns="0" tIns="0" rIns="0" bIns="0" anchor="ctr">
            <a:spAutoFit/>
          </a:bodyPr>
          <a:lstStyle/>
          <a:p>
            <a:pPr algn="ctr">
              <a:defRPr sz="900" b="1">
                <a:solidFill>
                  <a:srgbClr val="26788C"/>
                </a:solidFill>
                <a:latin typeface="Calibri"/>
              </a:defRPr>
            </a:pPr>
            <a:r>
              <a:t>DESIGN THE OFFER</a:t>
            </a:r>
          </a:p>
        </p:txBody>
      </p:sp>
      <p:sp>
        <p:nvSpPr>
          <p:cNvPr id="6" name="TextBox 5"/>
          <p:cNvSpPr txBox="1"/>
          <p:nvPr/>
        </p:nvSpPr>
        <p:spPr>
          <a:xfrm rot="16200000">
            <a:off x="-450000" y="3150000"/>
            <a:ext cx="1400000" cy="300000"/>
          </a:xfrm>
          <a:prstGeom prst="rect">
            <a:avLst/>
          </a:prstGeom>
          <a:noFill/>
        </p:spPr>
        <p:txBody>
          <a:bodyPr wrap="square" lIns="0" tIns="0" rIns="0" bIns="0" anchor="ctr">
            <a:spAutoFit/>
          </a:bodyPr>
          <a:lstStyle/>
          <a:p>
            <a:pPr algn="ctr">
              <a:defRPr sz="900" b="1">
                <a:solidFill>
                  <a:srgbClr val="26788C"/>
                </a:solidFill>
                <a:latin typeface="Calibri"/>
              </a:defRPr>
            </a:pPr>
            <a:r>
              <a:t>DELIVER THE VALUE</a:t>
            </a:r>
          </a:p>
        </p:txBody>
      </p:sp>
      <p:sp>
        <p:nvSpPr>
          <p:cNvPr id="7" name="TextBox 6"/>
          <p:cNvSpPr txBox="1"/>
          <p:nvPr/>
        </p:nvSpPr>
        <p:spPr>
          <a:xfrm rot="16200000">
            <a:off x="-450000" y="4550000"/>
            <a:ext cx="1400000" cy="300000"/>
          </a:xfrm>
          <a:prstGeom prst="rect">
            <a:avLst/>
          </a:prstGeom>
          <a:noFill/>
        </p:spPr>
        <p:txBody>
          <a:bodyPr wrap="square" lIns="0" tIns="0" rIns="0" bIns="0" anchor="ctr">
            <a:spAutoFit/>
          </a:bodyPr>
          <a:lstStyle/>
          <a:p>
            <a:pPr algn="ctr">
              <a:defRPr sz="900" b="1">
                <a:solidFill>
                  <a:srgbClr val="26788C"/>
                </a:solidFill>
                <a:latin typeface="Calibri"/>
              </a:defRPr>
            </a:pPr>
            <a:r>
              <a:t>RUN THE COMPANY</a:t>
            </a:r>
          </a:p>
        </p:txBody>
      </p:sp>
      <p:sp>
        <p:nvSpPr>
          <p:cNvPr id="8" name="Right Arrow 7"/>
          <p:cNvSpPr/>
          <p:nvPr/>
        </p:nvSpPr>
        <p:spPr>
          <a:xfrm>
            <a:off x="800000" y="2350000"/>
            <a:ext cx="11000000" cy="100000"/>
          </a:xfrm>
          <a:prstGeom prst="rightArrow">
            <a:avLst/>
          </a:prstGeom>
          <a:solidFill>
            <a:srgbClr val="26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00000" y="2250000"/>
            <a:ext cx="2000000" cy="300000"/>
          </a:xfrm>
          <a:prstGeom prst="roundRect">
            <a:avLst/>
          </a:prstGeom>
          <a:solidFill>
            <a:srgbClr val="26788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50" b="1">
                <a:solidFill>
                  <a:srgbClr val="FFFFFF"/>
                </a:solidFill>
                <a:latin typeface="Calibri"/>
              </a:defRPr>
            </a:pPr>
            <a:r>
              <a:t>MVP (M1-2)</a:t>
            </a:r>
          </a:p>
        </p:txBody>
      </p:sp>
      <p:sp>
        <p:nvSpPr>
          <p:cNvPr id="10" name="Rounded Rectangle 9"/>
          <p:cNvSpPr/>
          <p:nvPr/>
        </p:nvSpPr>
        <p:spPr>
          <a:xfrm>
            <a:off x="800000" y="1600000"/>
            <a:ext cx="2000000" cy="500000"/>
          </a:xfrm>
          <a:prstGeom prst="roundRect">
            <a:avLst/>
          </a:prstGeom>
          <a:solidFill>
            <a:srgbClr val="FFFFFF"/>
          </a:solidFill>
          <a:ln w="19050">
            <a:solidFill>
              <a:srgbClr val="26788C"/>
            </a:solidFill>
          </a:ln>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defRPr sz="800" b="1">
                <a:solidFill>
                  <a:srgbClr val="26788C"/>
                </a:solidFill>
                <a:latin typeface="Calibri"/>
              </a:defRPr>
            </a:pPr>
            <a:r>
              <a:t>💡 Prototype Ready</a:t>
            </a:r>
          </a:p>
        </p:txBody>
      </p:sp>
      <p:sp>
        <p:nvSpPr>
          <p:cNvPr id="11" name="Rectangle 10"/>
          <p:cNvSpPr/>
          <p:nvPr/>
        </p:nvSpPr>
        <p:spPr>
          <a:xfrm>
            <a:off x="1790000" y="2100000"/>
            <a:ext cx="20000" cy="150000"/>
          </a:xfrm>
          <a:prstGeom prst="rect">
            <a:avLst/>
          </a:prstGeom>
          <a:solidFill>
            <a:srgbClr val="26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0000" y="900000"/>
            <a:ext cx="2000000" cy="600000"/>
          </a:xfrm>
          <a:prstGeom prst="rect">
            <a:avLst/>
          </a:prstGeom>
          <a:noFill/>
        </p:spPr>
        <p:txBody>
          <a:bodyPr wrap="square" lIns="25400" tIns="25400" rIns="25400" bIns="25400">
            <a:spAutoFit/>
          </a:bodyPr>
          <a:lstStyle/>
          <a:p>
            <a:pPr>
              <a:lnSpc>
                <a:spcPct val="105000"/>
              </a:lnSpc>
              <a:spcAft>
                <a:spcPts val="200"/>
              </a:spcAft>
              <a:defRPr sz="700">
                <a:solidFill>
                  <a:srgbClr val="333333"/>
                </a:solidFill>
                <a:latin typeface="Calibri"/>
              </a:defRPr>
            </a:pPr>
            <a:r>
              <a:t>• MVP - Core 20-zone Paris wooden maquette &amp; local JS web simulator validated.</a:t>
            </a:r>
          </a:p>
        </p:txBody>
      </p:sp>
      <p:sp>
        <p:nvSpPr>
          <p:cNvPr id="13" name="TextBox 12"/>
          <p:cNvSpPr txBox="1"/>
          <p:nvPr/>
        </p:nvSpPr>
        <p:spPr>
          <a:xfrm>
            <a:off x="800000" y="2700000"/>
            <a:ext cx="2000000" cy="1200000"/>
          </a:xfrm>
          <a:prstGeom prst="rect">
            <a:avLst/>
          </a:prstGeom>
          <a:noFill/>
        </p:spPr>
        <p:txBody>
          <a:bodyPr wrap="square" lIns="25400" tIns="25400" rIns="25400" bIns="25400">
            <a:spAutoFit/>
          </a:bodyPr>
          <a:lstStyle/>
          <a:p>
            <a:pPr>
              <a:lnSpc>
                <a:spcPct val="105000"/>
              </a:lnSpc>
              <a:spcAft>
                <a:spcPts val="200"/>
              </a:spcAft>
              <a:defRPr sz="700">
                <a:solidFill>
                  <a:srgbClr val="333333"/>
                </a:solidFill>
                <a:latin typeface="Calibri"/>
              </a:defRPr>
            </a:pPr>
            <a:r>
              <a:t>• Handmade prototype.</a:t>
            </a:r>
          </a:p>
          <a:p>
            <a:pPr>
              <a:lnSpc>
                <a:spcPct val="105000"/>
              </a:lnSpc>
              <a:spcAft>
                <a:spcPts val="200"/>
              </a:spcAft>
              <a:defRPr sz="700">
                <a:solidFill>
                  <a:srgbClr val="333333"/>
                </a:solidFill>
                <a:latin typeface="Calibri"/>
              </a:defRPr>
            </a:pPr>
            <a:r>
              <a:t>• Offline instructional guides.</a:t>
            </a:r>
          </a:p>
          <a:p>
            <a:pPr>
              <a:lnSpc>
                <a:spcPct val="105000"/>
              </a:lnSpc>
              <a:spcAft>
                <a:spcPts val="200"/>
              </a:spcAft>
              <a:defRPr sz="700">
                <a:solidFill>
                  <a:srgbClr val="333333"/>
                </a:solidFill>
                <a:latin typeface="Calibri"/>
              </a:defRPr>
            </a:pPr>
            <a:r>
              <a:t>• Direct pitches to UTSEUS lab.</a:t>
            </a:r>
          </a:p>
        </p:txBody>
      </p:sp>
      <p:sp>
        <p:nvSpPr>
          <p:cNvPr id="14" name="TextBox 13"/>
          <p:cNvSpPr txBox="1"/>
          <p:nvPr/>
        </p:nvSpPr>
        <p:spPr>
          <a:xfrm>
            <a:off x="800000" y="4100000"/>
            <a:ext cx="2000000" cy="1200000"/>
          </a:xfrm>
          <a:prstGeom prst="rect">
            <a:avLst/>
          </a:prstGeom>
          <a:noFill/>
        </p:spPr>
        <p:txBody>
          <a:bodyPr wrap="square" lIns="25400" tIns="25400" rIns="25400" bIns="25400">
            <a:spAutoFit/>
          </a:bodyPr>
          <a:lstStyle/>
          <a:p>
            <a:pPr>
              <a:lnSpc>
                <a:spcPct val="105000"/>
              </a:lnSpc>
              <a:spcAft>
                <a:spcPts val="200"/>
              </a:spcAft>
              <a:defRPr sz="700">
                <a:solidFill>
                  <a:srgbClr val="333333"/>
                </a:solidFill>
                <a:latin typeface="Calibri"/>
              </a:defRPr>
            </a:pPr>
            <a:r>
              <a:t>• 5-person student team formed.</a:t>
            </a:r>
          </a:p>
          <a:p>
            <a:pPr>
              <a:lnSpc>
                <a:spcPct val="105000"/>
              </a:lnSpc>
              <a:spcAft>
                <a:spcPts val="200"/>
              </a:spcAft>
              <a:defRPr sz="700">
                <a:solidFill>
                  <a:srgbClr val="333333"/>
                </a:solidFill>
                <a:latin typeface="Calibri"/>
              </a:defRPr>
            </a:pPr>
            <a:r>
              <a:t>• Bootstrapped under a strict 25€ student Games for Change academic grant.</a:t>
            </a:r>
          </a:p>
        </p:txBody>
      </p:sp>
      <p:sp>
        <p:nvSpPr>
          <p:cNvPr id="15" name="TextBox 14"/>
          <p:cNvSpPr txBox="1"/>
          <p:nvPr/>
        </p:nvSpPr>
        <p:spPr>
          <a:xfrm>
            <a:off x="800000" y="5500000"/>
            <a:ext cx="2000000" cy="700000"/>
          </a:xfrm>
          <a:prstGeom prst="rect">
            <a:avLst/>
          </a:prstGeom>
          <a:noFill/>
        </p:spPr>
        <p:txBody>
          <a:bodyPr wrap="square" lIns="25400" tIns="25400" rIns="25400" bIns="25400">
            <a:spAutoFit/>
          </a:bodyPr>
          <a:lstStyle/>
          <a:p>
            <a:pPr>
              <a:lnSpc>
                <a:spcPct val="105000"/>
              </a:lnSpc>
              <a:spcAft>
                <a:spcPts val="100"/>
              </a:spcAft>
              <a:defRPr sz="700" b="1">
                <a:solidFill>
                  <a:srgbClr val="D97706"/>
                </a:solidFill>
                <a:latin typeface="Calibri"/>
              </a:defRPr>
            </a:pPr>
            <a:r>
              <a:t>Gate 1:</a:t>
            </a:r>
          </a:p>
          <a:p>
            <a:pPr>
              <a:lnSpc>
                <a:spcPct val="105000"/>
              </a:lnSpc>
              <a:spcAft>
                <a:spcPts val="100"/>
              </a:spcAft>
              <a:defRPr sz="700" b="0">
                <a:solidFill>
                  <a:srgbClr val="333333"/>
                </a:solidFill>
                <a:latin typeface="Calibri"/>
              </a:defRPr>
            </a:pPr>
            <a:r>
              <a:t>• Prototype ready.</a:t>
            </a:r>
          </a:p>
          <a:p>
            <a:pPr>
              <a:lnSpc>
                <a:spcPct val="105000"/>
              </a:lnSpc>
              <a:spcAft>
                <a:spcPts val="100"/>
              </a:spcAft>
              <a:defRPr sz="700" b="0">
                <a:solidFill>
                  <a:srgbClr val="333333"/>
                </a:solidFill>
                <a:latin typeface="Calibri"/>
              </a:defRPr>
            </a:pPr>
            <a:r>
              <a:t>• Tested with 12 y/o.</a:t>
            </a:r>
          </a:p>
        </p:txBody>
      </p:sp>
      <p:sp>
        <p:nvSpPr>
          <p:cNvPr id="16" name="Rounded Rectangle 15"/>
          <p:cNvSpPr/>
          <p:nvPr/>
        </p:nvSpPr>
        <p:spPr>
          <a:xfrm>
            <a:off x="3000000" y="2250000"/>
            <a:ext cx="2000000" cy="300000"/>
          </a:xfrm>
          <a:prstGeom prst="roundRect">
            <a:avLst/>
          </a:prstGeom>
          <a:solidFill>
            <a:srgbClr val="26788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50" b="1">
                <a:solidFill>
                  <a:srgbClr val="FFFFFF"/>
                </a:solidFill>
                <a:latin typeface="Calibri"/>
              </a:defRPr>
            </a:pPr>
            <a:r>
              <a:t>PILOT (M3-4)</a:t>
            </a:r>
          </a:p>
        </p:txBody>
      </p:sp>
      <p:sp>
        <p:nvSpPr>
          <p:cNvPr id="17" name="Rounded Rectangle 16"/>
          <p:cNvSpPr/>
          <p:nvPr/>
        </p:nvSpPr>
        <p:spPr>
          <a:xfrm>
            <a:off x="3000000" y="1600000"/>
            <a:ext cx="2000000" cy="500000"/>
          </a:xfrm>
          <a:prstGeom prst="roundRect">
            <a:avLst/>
          </a:prstGeom>
          <a:solidFill>
            <a:srgbClr val="FFFFFF"/>
          </a:solidFill>
          <a:ln w="19050">
            <a:solidFill>
              <a:srgbClr val="26788C"/>
            </a:solidFill>
          </a:ln>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defRPr sz="800" b="1">
                <a:solidFill>
                  <a:srgbClr val="26788C"/>
                </a:solidFill>
                <a:latin typeface="Calibri"/>
              </a:defRPr>
            </a:pPr>
            <a:r>
              <a:t>📦 3-5 Pilots Live</a:t>
            </a:r>
          </a:p>
        </p:txBody>
      </p:sp>
      <p:sp>
        <p:nvSpPr>
          <p:cNvPr id="18" name="Rectangle 17"/>
          <p:cNvSpPr/>
          <p:nvPr/>
        </p:nvSpPr>
        <p:spPr>
          <a:xfrm>
            <a:off x="3990000" y="2100000"/>
            <a:ext cx="20000" cy="150000"/>
          </a:xfrm>
          <a:prstGeom prst="rect">
            <a:avLst/>
          </a:prstGeom>
          <a:solidFill>
            <a:srgbClr val="26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000000" y="900000"/>
            <a:ext cx="2000000" cy="600000"/>
          </a:xfrm>
          <a:prstGeom prst="rect">
            <a:avLst/>
          </a:prstGeom>
          <a:noFill/>
        </p:spPr>
        <p:txBody>
          <a:bodyPr wrap="square" lIns="25400" tIns="25400" rIns="25400" bIns="25400">
            <a:spAutoFit/>
          </a:bodyPr>
          <a:lstStyle/>
          <a:p>
            <a:pPr>
              <a:lnSpc>
                <a:spcPct val="105000"/>
              </a:lnSpc>
              <a:spcAft>
                <a:spcPts val="200"/>
              </a:spcAft>
              <a:defRPr sz="700">
                <a:solidFill>
                  <a:srgbClr val="333333"/>
                </a:solidFill>
                <a:latin typeface="Calibri"/>
              </a:defRPr>
            </a:pPr>
            <a:r>
              <a:t>• Refined casing &amp; classroom worksheets (Bastille Day Peak, Cold Winter Surge, Heatwave Cutoffs).</a:t>
            </a:r>
          </a:p>
          <a:p>
            <a:pPr>
              <a:lnSpc>
                <a:spcPct val="105000"/>
              </a:lnSpc>
              <a:spcAft>
                <a:spcPts val="200"/>
              </a:spcAft>
              <a:defRPr sz="700">
                <a:solidFill>
                  <a:srgbClr val="333333"/>
                </a:solidFill>
                <a:latin typeface="Calibri"/>
              </a:defRPr>
            </a:pPr>
            <a:r>
              <a:t>• Calibrated HSL lighting on ESP32.</a:t>
            </a:r>
          </a:p>
        </p:txBody>
      </p:sp>
      <p:sp>
        <p:nvSpPr>
          <p:cNvPr id="20" name="TextBox 19"/>
          <p:cNvSpPr txBox="1"/>
          <p:nvPr/>
        </p:nvSpPr>
        <p:spPr>
          <a:xfrm>
            <a:off x="3000000" y="2700000"/>
            <a:ext cx="1600000" cy="1200000"/>
          </a:xfrm>
          <a:prstGeom prst="rect">
            <a:avLst/>
          </a:prstGeom>
          <a:noFill/>
        </p:spPr>
        <p:txBody>
          <a:bodyPr wrap="square" lIns="25400" tIns="25400" rIns="25400" bIns="25400">
            <a:spAutoFit/>
          </a:bodyPr>
          <a:lstStyle/>
          <a:p>
            <a:pPr>
              <a:lnSpc>
                <a:spcPct val="105000"/>
              </a:lnSpc>
              <a:spcAft>
                <a:spcPts val="200"/>
              </a:spcAft>
              <a:defRPr sz="700">
                <a:solidFill>
                  <a:srgbClr val="333333"/>
                </a:solidFill>
                <a:latin typeface="Calibri"/>
              </a:defRPr>
            </a:pPr>
            <a:r>
              <a:t>• Deployed 3 free B2B pilots: 2 local secondary schools (science classes) &amp; 1 UTSEUS campus gallery.</a:t>
            </a:r>
          </a:p>
          <a:p>
            <a:pPr>
              <a:lnSpc>
                <a:spcPct val="105000"/>
              </a:lnSpc>
              <a:spcAft>
                <a:spcPts val="200"/>
              </a:spcAft>
              <a:defRPr sz="700">
                <a:solidFill>
                  <a:srgbClr val="333333"/>
                </a:solidFill>
                <a:latin typeface="Calibri"/>
              </a:defRPr>
            </a:pPr>
            <a:r>
              <a:t>• Nouh TARI led museum curators' pitches.</a:t>
            </a:r>
          </a:p>
        </p:txBody>
      </p:sp>
      <p:sp>
        <p:nvSpPr>
          <p:cNvPr id="21" name="TextBox 20"/>
          <p:cNvSpPr txBox="1"/>
          <p:nvPr/>
        </p:nvSpPr>
        <p:spPr>
          <a:xfrm>
            <a:off x="3000000" y="4100000"/>
            <a:ext cx="1600000" cy="1200000"/>
          </a:xfrm>
          <a:prstGeom prst="rect">
            <a:avLst/>
          </a:prstGeom>
          <a:noFill/>
        </p:spPr>
        <p:txBody>
          <a:bodyPr wrap="square" lIns="25400" tIns="25400" rIns="25400" bIns="25400">
            <a:spAutoFit/>
          </a:bodyPr>
          <a:lstStyle/>
          <a:p>
            <a:pPr>
              <a:lnSpc>
                <a:spcPct val="105000"/>
              </a:lnSpc>
              <a:spcAft>
                <a:spcPts val="200"/>
              </a:spcAft>
              <a:defRPr sz="700">
                <a:solidFill>
                  <a:srgbClr val="333333"/>
                </a:solidFill>
                <a:latin typeface="Calibri"/>
              </a:defRPr>
            </a:pPr>
            <a:r>
              <a:t>• Nouh TARI appointed Head of Sales &amp; Commercial.</a:t>
            </a:r>
          </a:p>
          <a:p>
            <a:pPr>
              <a:lnSpc>
                <a:spcPct val="105000"/>
              </a:lnSpc>
              <a:spcAft>
                <a:spcPts val="200"/>
              </a:spcAft>
              <a:defRPr sz="700">
                <a:solidFill>
                  <a:srgbClr val="333333"/>
                </a:solidFill>
                <a:latin typeface="Calibri"/>
              </a:defRPr>
            </a:pPr>
            <a:r>
              <a:t>• Taobao sourcing coordination.</a:t>
            </a:r>
          </a:p>
          <a:p>
            <a:pPr>
              <a:lnSpc>
                <a:spcPct val="105000"/>
              </a:lnSpc>
              <a:spcAft>
                <a:spcPts val="200"/>
              </a:spcAft>
              <a:defRPr sz="700">
                <a:solidFill>
                  <a:srgbClr val="333333"/>
                </a:solidFill>
                <a:latin typeface="Calibri"/>
              </a:defRPr>
            </a:pPr>
            <a:r>
              <a:t>• Weekly sprint trackers established.</a:t>
            </a:r>
          </a:p>
        </p:txBody>
      </p:sp>
      <p:sp>
        <p:nvSpPr>
          <p:cNvPr id="22" name="TextBox 21"/>
          <p:cNvSpPr txBox="1"/>
          <p:nvPr/>
        </p:nvSpPr>
        <p:spPr>
          <a:xfrm>
            <a:off x="3000000" y="5500000"/>
            <a:ext cx="2000000" cy="700000"/>
          </a:xfrm>
          <a:prstGeom prst="rect">
            <a:avLst/>
          </a:prstGeom>
          <a:noFill/>
        </p:spPr>
        <p:txBody>
          <a:bodyPr wrap="square" lIns="25400" tIns="25400" rIns="25400" bIns="25400">
            <a:spAutoFit/>
          </a:bodyPr>
          <a:lstStyle/>
          <a:p>
            <a:pPr>
              <a:lnSpc>
                <a:spcPct val="105000"/>
              </a:lnSpc>
              <a:spcAft>
                <a:spcPts val="100"/>
              </a:spcAft>
              <a:defRPr sz="700" b="1">
                <a:solidFill>
                  <a:srgbClr val="D97706"/>
                </a:solidFill>
                <a:latin typeface="Calibri"/>
              </a:defRPr>
            </a:pPr>
            <a:r>
              <a:t>Gate 2:</a:t>
            </a:r>
          </a:p>
          <a:p>
            <a:pPr>
              <a:lnSpc>
                <a:spcPct val="105000"/>
              </a:lnSpc>
              <a:spcAft>
                <a:spcPts val="100"/>
              </a:spcAft>
              <a:defRPr sz="700" b="0">
                <a:solidFill>
                  <a:srgbClr val="333333"/>
                </a:solidFill>
                <a:latin typeface="Calibri"/>
              </a:defRPr>
            </a:pPr>
            <a:r>
              <a:t>• 1st B2B pilot signed.</a:t>
            </a:r>
          </a:p>
          <a:p>
            <a:pPr>
              <a:lnSpc>
                <a:spcPct val="105000"/>
              </a:lnSpc>
              <a:spcAft>
                <a:spcPts val="100"/>
              </a:spcAft>
              <a:defRPr sz="700" b="0">
                <a:solidFill>
                  <a:srgbClr val="333333"/>
                </a:solidFill>
                <a:latin typeface="Calibri"/>
              </a:defRPr>
            </a:pPr>
            <a:r>
              <a:t>• Curator satisfaction &gt; 85%.</a:t>
            </a:r>
          </a:p>
        </p:txBody>
      </p:sp>
      <p:sp>
        <p:nvSpPr>
          <p:cNvPr id="23" name="Rounded Rectangle 22"/>
          <p:cNvSpPr/>
          <p:nvPr/>
        </p:nvSpPr>
        <p:spPr>
          <a:xfrm>
            <a:off x="5200000" y="2250000"/>
            <a:ext cx="2000000" cy="300000"/>
          </a:xfrm>
          <a:prstGeom prst="roundRect">
            <a:avLst/>
          </a:prstGeom>
          <a:solidFill>
            <a:srgbClr val="26788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50" b="1">
                <a:solidFill>
                  <a:srgbClr val="FFFFFF"/>
                </a:solidFill>
                <a:latin typeface="Calibri"/>
              </a:defRPr>
            </a:pPr>
            <a:r>
              <a:t>INDUS. (M5-6)</a:t>
            </a:r>
          </a:p>
        </p:txBody>
      </p:sp>
      <p:sp>
        <p:nvSpPr>
          <p:cNvPr id="24" name="Rounded Rectangle 23"/>
          <p:cNvSpPr/>
          <p:nvPr/>
        </p:nvSpPr>
        <p:spPr>
          <a:xfrm>
            <a:off x="5200000" y="1600000"/>
            <a:ext cx="2000000" cy="500000"/>
          </a:xfrm>
          <a:prstGeom prst="roundRect">
            <a:avLst/>
          </a:prstGeom>
          <a:solidFill>
            <a:srgbClr val="FFFFFF"/>
          </a:solidFill>
          <a:ln w="19050">
            <a:solidFill>
              <a:srgbClr val="26788C"/>
            </a:solidFill>
          </a:ln>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defRPr sz="800" b="1">
                <a:solidFill>
                  <a:srgbClr val="26788C"/>
                </a:solidFill>
                <a:latin typeface="Calibri"/>
              </a:defRPr>
            </a:pPr>
            <a:r>
              <a:t>🛠 Custom PCBs Ok</a:t>
            </a:r>
          </a:p>
        </p:txBody>
      </p:sp>
      <p:sp>
        <p:nvSpPr>
          <p:cNvPr id="25" name="Rectangle 24"/>
          <p:cNvSpPr/>
          <p:nvPr/>
        </p:nvSpPr>
        <p:spPr>
          <a:xfrm>
            <a:off x="6190000" y="2100000"/>
            <a:ext cx="20000" cy="150000"/>
          </a:xfrm>
          <a:prstGeom prst="rect">
            <a:avLst/>
          </a:prstGeom>
          <a:solidFill>
            <a:srgbClr val="26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200000" y="900000"/>
            <a:ext cx="2000000" cy="600000"/>
          </a:xfrm>
          <a:prstGeom prst="rect">
            <a:avLst/>
          </a:prstGeom>
          <a:noFill/>
        </p:spPr>
        <p:txBody>
          <a:bodyPr wrap="square" lIns="25400" tIns="25400" rIns="25400" bIns="25400">
            <a:spAutoFit/>
          </a:bodyPr>
          <a:lstStyle/>
          <a:p>
            <a:pPr>
              <a:lnSpc>
                <a:spcPct val="105000"/>
              </a:lnSpc>
              <a:spcAft>
                <a:spcPts val="200"/>
              </a:spcAft>
              <a:defRPr sz="700">
                <a:solidFill>
                  <a:srgbClr val="333333"/>
                </a:solidFill>
                <a:latin typeface="Calibri"/>
              </a:defRPr>
            </a:pPr>
            <a:r>
              <a:t>• Designed modular fablab assembly kits.</a:t>
            </a:r>
          </a:p>
          <a:p>
            <a:pPr>
              <a:lnSpc>
                <a:spcPct val="105000"/>
              </a:lnSpc>
              <a:spcAft>
                <a:spcPts val="200"/>
              </a:spcAft>
              <a:defRPr sz="700">
                <a:solidFill>
                  <a:srgbClr val="333333"/>
                </a:solidFill>
                <a:latin typeface="Calibri"/>
              </a:defRPr>
            </a:pPr>
            <a:r>
              <a:t>• Replaced manual hand-wiring with custom-fabricated printed circuit boards (PCBs).</a:t>
            </a:r>
          </a:p>
        </p:txBody>
      </p:sp>
      <p:sp>
        <p:nvSpPr>
          <p:cNvPr id="27" name="TextBox 26"/>
          <p:cNvSpPr txBox="1"/>
          <p:nvPr/>
        </p:nvSpPr>
        <p:spPr>
          <a:xfrm>
            <a:off x="5200000" y="2700000"/>
            <a:ext cx="2000000" cy="1200000"/>
          </a:xfrm>
          <a:prstGeom prst="rect">
            <a:avLst/>
          </a:prstGeom>
          <a:noFill/>
        </p:spPr>
        <p:txBody>
          <a:bodyPr wrap="square" lIns="25400" tIns="25400" rIns="25400" bIns="25400">
            <a:spAutoFit/>
          </a:bodyPr>
          <a:lstStyle/>
          <a:p>
            <a:pPr>
              <a:lnSpc>
                <a:spcPct val="105000"/>
              </a:lnSpc>
              <a:spcAft>
                <a:spcPts val="200"/>
              </a:spcAft>
              <a:defRPr sz="700">
                <a:solidFill>
                  <a:srgbClr val="333333"/>
                </a:solidFill>
                <a:latin typeface="Calibri"/>
              </a:defRPr>
            </a:pPr>
            <a:r>
              <a:t>• Sourced bulk electronics and keys from Taobao to reduce cost to ≤15€ per module.</a:t>
            </a:r>
          </a:p>
          <a:p>
            <a:pPr>
              <a:lnSpc>
                <a:spcPct val="105000"/>
              </a:lnSpc>
              <a:spcAft>
                <a:spcPts val="200"/>
              </a:spcAft>
              <a:defRPr sz="700">
                <a:solidFill>
                  <a:srgbClr val="333333"/>
                </a:solidFill>
                <a:latin typeface="Calibri"/>
              </a:defRPr>
            </a:pPr>
            <a:r>
              <a:t>• Assembly tutorials for contributors.</a:t>
            </a:r>
          </a:p>
        </p:txBody>
      </p:sp>
      <p:sp>
        <p:nvSpPr>
          <p:cNvPr id="28" name="TextBox 27"/>
          <p:cNvSpPr txBox="1"/>
          <p:nvPr/>
        </p:nvSpPr>
        <p:spPr>
          <a:xfrm>
            <a:off x="5200000" y="4100000"/>
            <a:ext cx="2000000" cy="1200000"/>
          </a:xfrm>
          <a:prstGeom prst="rect">
            <a:avLst/>
          </a:prstGeom>
          <a:noFill/>
        </p:spPr>
        <p:txBody>
          <a:bodyPr wrap="square" lIns="25400" tIns="25400" rIns="25400" bIns="25400">
            <a:spAutoFit/>
          </a:bodyPr>
          <a:lstStyle/>
          <a:p>
            <a:pPr>
              <a:lnSpc>
                <a:spcPct val="105000"/>
              </a:lnSpc>
              <a:spcAft>
                <a:spcPts val="200"/>
              </a:spcAft>
              <a:defRPr sz="700">
                <a:solidFill>
                  <a:srgbClr val="333333"/>
                </a:solidFill>
                <a:latin typeface="Calibri"/>
              </a:defRPr>
            </a:pPr>
            <a:r>
              <a:t>• Applied for regional green-tech student grant (target: 2,000€).</a:t>
            </a:r>
          </a:p>
          <a:p>
            <a:pPr>
              <a:lnSpc>
                <a:spcPct val="105000"/>
              </a:lnSpc>
              <a:spcAft>
                <a:spcPts val="200"/>
              </a:spcAft>
              <a:defRPr sz="700">
                <a:solidFill>
                  <a:srgbClr val="333333"/>
                </a:solidFill>
                <a:latin typeface="Calibri"/>
              </a:defRPr>
            </a:pPr>
            <a:r>
              <a:t>• Initiated B2B compliance review for CE safety marking.</a:t>
            </a:r>
          </a:p>
        </p:txBody>
      </p:sp>
      <p:sp>
        <p:nvSpPr>
          <p:cNvPr id="29" name="TextBox 28"/>
          <p:cNvSpPr txBox="1"/>
          <p:nvPr/>
        </p:nvSpPr>
        <p:spPr>
          <a:xfrm>
            <a:off x="5200000" y="5500000"/>
            <a:ext cx="2000000" cy="700000"/>
          </a:xfrm>
          <a:prstGeom prst="rect">
            <a:avLst/>
          </a:prstGeom>
          <a:noFill/>
        </p:spPr>
        <p:txBody>
          <a:bodyPr wrap="square" lIns="25400" tIns="25400" rIns="25400" bIns="25400">
            <a:spAutoFit/>
          </a:bodyPr>
          <a:lstStyle/>
          <a:p>
            <a:pPr>
              <a:lnSpc>
                <a:spcPct val="105000"/>
              </a:lnSpc>
              <a:spcAft>
                <a:spcPts val="100"/>
              </a:spcAft>
              <a:defRPr sz="700" b="1">
                <a:solidFill>
                  <a:srgbClr val="D97706"/>
                </a:solidFill>
                <a:latin typeface="Calibri"/>
              </a:defRPr>
            </a:pPr>
            <a:r>
              <a:t>Gate 3:</a:t>
            </a:r>
          </a:p>
          <a:p>
            <a:pPr>
              <a:lnSpc>
                <a:spcPct val="105000"/>
              </a:lnSpc>
              <a:spcAft>
                <a:spcPts val="100"/>
              </a:spcAft>
              <a:defRPr sz="700" b="0">
                <a:solidFill>
                  <a:srgbClr val="333333"/>
                </a:solidFill>
                <a:latin typeface="Calibri"/>
              </a:defRPr>
            </a:pPr>
            <a:r>
              <a:t>• Custom PCBs verified.</a:t>
            </a:r>
          </a:p>
          <a:p>
            <a:pPr>
              <a:lnSpc>
                <a:spcPct val="105000"/>
              </a:lnSpc>
              <a:spcAft>
                <a:spcPts val="100"/>
              </a:spcAft>
              <a:defRPr sz="700" b="0">
                <a:solidFill>
                  <a:srgbClr val="333333"/>
                </a:solidFill>
                <a:latin typeface="Calibri"/>
              </a:defRPr>
            </a:pPr>
            <a:r>
              <a:t>• CE safety marking ok.</a:t>
            </a:r>
          </a:p>
        </p:txBody>
      </p:sp>
      <p:sp>
        <p:nvSpPr>
          <p:cNvPr id="30" name="Rounded Rectangle 29"/>
          <p:cNvSpPr/>
          <p:nvPr/>
        </p:nvSpPr>
        <p:spPr>
          <a:xfrm>
            <a:off x="7400000" y="2250000"/>
            <a:ext cx="2000000" cy="300000"/>
          </a:xfrm>
          <a:prstGeom prst="roundRect">
            <a:avLst/>
          </a:prstGeom>
          <a:solidFill>
            <a:srgbClr val="26788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50" b="1">
                <a:solidFill>
                  <a:srgbClr val="FFFFFF"/>
                </a:solidFill>
                <a:latin typeface="Calibri"/>
              </a:defRPr>
            </a:pPr>
            <a:r>
              <a:t>LIMITED (M7-12)</a:t>
            </a:r>
          </a:p>
        </p:txBody>
      </p:sp>
      <p:sp>
        <p:nvSpPr>
          <p:cNvPr id="31" name="Rounded Rectangle 30"/>
          <p:cNvSpPr/>
          <p:nvPr/>
        </p:nvSpPr>
        <p:spPr>
          <a:xfrm>
            <a:off x="7400000" y="1600000"/>
            <a:ext cx="2000000" cy="500000"/>
          </a:xfrm>
          <a:prstGeom prst="roundRect">
            <a:avLst/>
          </a:prstGeom>
          <a:solidFill>
            <a:srgbClr val="FFFFFF"/>
          </a:solidFill>
          <a:ln w="19050">
            <a:solidFill>
              <a:srgbClr val="26788C"/>
            </a:solidFill>
          </a:ln>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defRPr sz="800" b="1">
                <a:solidFill>
                  <a:srgbClr val="26788C"/>
                </a:solidFill>
                <a:latin typeface="Calibri"/>
              </a:defRPr>
            </a:pPr>
            <a:r>
              <a:t>⚙️ MSS Validated</a:t>
            </a:r>
          </a:p>
        </p:txBody>
      </p:sp>
      <p:sp>
        <p:nvSpPr>
          <p:cNvPr id="32" name="Rectangle 31"/>
          <p:cNvSpPr/>
          <p:nvPr/>
        </p:nvSpPr>
        <p:spPr>
          <a:xfrm>
            <a:off x="8390000" y="2100000"/>
            <a:ext cx="20000" cy="150000"/>
          </a:xfrm>
          <a:prstGeom prst="rect">
            <a:avLst/>
          </a:prstGeom>
          <a:solidFill>
            <a:srgbClr val="26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400000" y="900000"/>
            <a:ext cx="2000000" cy="600000"/>
          </a:xfrm>
          <a:prstGeom prst="rect">
            <a:avLst/>
          </a:prstGeom>
          <a:noFill/>
        </p:spPr>
        <p:txBody>
          <a:bodyPr wrap="square" lIns="25400" tIns="25400" rIns="25400" bIns="25400">
            <a:spAutoFit/>
          </a:bodyPr>
          <a:lstStyle/>
          <a:p>
            <a:pPr>
              <a:lnSpc>
                <a:spcPct val="105000"/>
              </a:lnSpc>
              <a:spcAft>
                <a:spcPts val="200"/>
              </a:spcAft>
              <a:defRPr sz="700">
                <a:solidFill>
                  <a:srgbClr val="333333"/>
                </a:solidFill>
                <a:latin typeface="Calibri"/>
              </a:defRPr>
            </a:pPr>
            <a:r>
              <a:t>• Launched B2B lease packages combining physical rental and digital scenario subscriptions.</a:t>
            </a:r>
          </a:p>
          <a:p>
            <a:pPr>
              <a:lnSpc>
                <a:spcPct val="105000"/>
              </a:lnSpc>
              <a:spcAft>
                <a:spcPts val="200"/>
              </a:spcAft>
              <a:defRPr sz="700">
                <a:solidFill>
                  <a:srgbClr val="333333"/>
                </a:solidFill>
                <a:latin typeface="Calibri"/>
              </a:defRPr>
            </a:pPr>
            <a:r>
              <a:t>• Environmental education curriculum.</a:t>
            </a:r>
          </a:p>
        </p:txBody>
      </p:sp>
      <p:sp>
        <p:nvSpPr>
          <p:cNvPr id="34" name="TextBox 33"/>
          <p:cNvSpPr txBox="1"/>
          <p:nvPr/>
        </p:nvSpPr>
        <p:spPr>
          <a:xfrm>
            <a:off x="7400000" y="2700000"/>
            <a:ext cx="2000000" cy="1200000"/>
          </a:xfrm>
          <a:prstGeom prst="rect">
            <a:avLst/>
          </a:prstGeom>
          <a:noFill/>
        </p:spPr>
        <p:txBody>
          <a:bodyPr wrap="square" lIns="25400" tIns="25400" rIns="25400" bIns="25400">
            <a:spAutoFit/>
          </a:bodyPr>
          <a:lstStyle/>
          <a:p>
            <a:pPr>
              <a:lnSpc>
                <a:spcPct val="105000"/>
              </a:lnSpc>
              <a:spcAft>
                <a:spcPts val="200"/>
              </a:spcAft>
              <a:defRPr sz="700">
                <a:solidFill>
                  <a:srgbClr val="333333"/>
                </a:solidFill>
                <a:latin typeface="Calibri"/>
              </a:defRPr>
            </a:pPr>
            <a:r>
              <a:t>• Built direct pipeline to 5 educational science museums.</a:t>
            </a:r>
          </a:p>
          <a:p>
            <a:pPr>
              <a:lnSpc>
                <a:spcPct val="105000"/>
              </a:lnSpc>
              <a:spcAft>
                <a:spcPts val="200"/>
              </a:spcAft>
              <a:defRPr sz="700">
                <a:solidFill>
                  <a:srgbClr val="333333"/>
                </a:solidFill>
                <a:latin typeface="Calibri"/>
              </a:defRPr>
            </a:pPr>
            <a:r>
              <a:t>• Offered structured live demonstrations utilizing a portable mini-maquette.</a:t>
            </a:r>
          </a:p>
        </p:txBody>
      </p:sp>
      <p:sp>
        <p:nvSpPr>
          <p:cNvPr id="35" name="TextBox 34"/>
          <p:cNvSpPr txBox="1"/>
          <p:nvPr/>
        </p:nvSpPr>
        <p:spPr>
          <a:xfrm>
            <a:off x="7400000" y="4100000"/>
            <a:ext cx="2000000" cy="1200000"/>
          </a:xfrm>
          <a:prstGeom prst="rect">
            <a:avLst/>
          </a:prstGeom>
          <a:noFill/>
        </p:spPr>
        <p:txBody>
          <a:bodyPr wrap="square" lIns="25400" tIns="25400" rIns="25400" bIns="25400">
            <a:spAutoFit/>
          </a:bodyPr>
          <a:lstStyle/>
          <a:p>
            <a:pPr>
              <a:lnSpc>
                <a:spcPct val="105000"/>
              </a:lnSpc>
              <a:spcAft>
                <a:spcPts val="200"/>
              </a:spcAft>
              <a:defRPr sz="700">
                <a:solidFill>
                  <a:srgbClr val="333333"/>
                </a:solidFill>
                <a:latin typeface="Calibri"/>
              </a:defRPr>
            </a:pPr>
            <a:r>
              <a:t>• Standardized B2B lease contract templates.</a:t>
            </a:r>
          </a:p>
          <a:p>
            <a:pPr>
              <a:lnSpc>
                <a:spcPct val="105000"/>
              </a:lnSpc>
              <a:spcAft>
                <a:spcPts val="200"/>
              </a:spcAft>
              <a:defRPr sz="700">
                <a:solidFill>
                  <a:srgbClr val="333333"/>
                </a:solidFill>
                <a:latin typeface="Calibri"/>
              </a:defRPr>
            </a:pPr>
            <a:r>
              <a:t>• Secured 2k€ grant; set up bank account and basic financial accounting.</a:t>
            </a:r>
          </a:p>
        </p:txBody>
      </p:sp>
      <p:sp>
        <p:nvSpPr>
          <p:cNvPr id="36" name="TextBox 35"/>
          <p:cNvSpPr txBox="1"/>
          <p:nvPr/>
        </p:nvSpPr>
        <p:spPr>
          <a:xfrm>
            <a:off x="7400000" y="5500000"/>
            <a:ext cx="2000000" cy="700000"/>
          </a:xfrm>
          <a:prstGeom prst="rect">
            <a:avLst/>
          </a:prstGeom>
          <a:noFill/>
        </p:spPr>
        <p:txBody>
          <a:bodyPr wrap="square" lIns="25400" tIns="25400" rIns="25400" bIns="25400">
            <a:spAutoFit/>
          </a:bodyPr>
          <a:lstStyle/>
          <a:p>
            <a:pPr>
              <a:lnSpc>
                <a:spcPct val="105000"/>
              </a:lnSpc>
              <a:spcAft>
                <a:spcPts val="100"/>
              </a:spcAft>
              <a:defRPr sz="700" b="1">
                <a:solidFill>
                  <a:srgbClr val="D97706"/>
                </a:solidFill>
                <a:latin typeface="Calibri"/>
              </a:defRPr>
            </a:pPr>
            <a:r>
              <a:t>Gate 4:</a:t>
            </a:r>
          </a:p>
          <a:p>
            <a:pPr>
              <a:lnSpc>
                <a:spcPct val="105000"/>
              </a:lnSpc>
              <a:spcAft>
                <a:spcPts val="100"/>
              </a:spcAft>
              <a:defRPr sz="700" b="0">
                <a:solidFill>
                  <a:srgbClr val="333333"/>
                </a:solidFill>
                <a:latin typeface="Calibri"/>
              </a:defRPr>
            </a:pPr>
            <a:r>
              <a:t>• MSS tested in 3 sites.</a:t>
            </a:r>
          </a:p>
          <a:p>
            <a:pPr>
              <a:lnSpc>
                <a:spcPct val="105000"/>
              </a:lnSpc>
              <a:spcAft>
                <a:spcPts val="100"/>
              </a:spcAft>
              <a:defRPr sz="700" b="0">
                <a:solidFill>
                  <a:srgbClr val="333333"/>
                </a:solidFill>
                <a:latin typeface="Calibri"/>
              </a:defRPr>
            </a:pPr>
            <a:r>
              <a:t>• 1,000 online users.</a:t>
            </a:r>
          </a:p>
        </p:txBody>
      </p:sp>
      <p:sp>
        <p:nvSpPr>
          <p:cNvPr id="37" name="Rounded Rectangle 36"/>
          <p:cNvSpPr/>
          <p:nvPr/>
        </p:nvSpPr>
        <p:spPr>
          <a:xfrm>
            <a:off x="9600000" y="2250000"/>
            <a:ext cx="2000000" cy="300000"/>
          </a:xfrm>
          <a:prstGeom prst="roundRect">
            <a:avLst/>
          </a:prstGeom>
          <a:solidFill>
            <a:srgbClr val="26788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50" b="1">
                <a:solidFill>
                  <a:srgbClr val="FFFFFF"/>
                </a:solidFill>
                <a:latin typeface="Calibri"/>
              </a:defRPr>
            </a:pPr>
            <a:r>
              <a:t>WIDE (Y2-3)</a:t>
            </a:r>
          </a:p>
        </p:txBody>
      </p:sp>
      <p:sp>
        <p:nvSpPr>
          <p:cNvPr id="38" name="Rounded Rectangle 37"/>
          <p:cNvSpPr/>
          <p:nvPr/>
        </p:nvSpPr>
        <p:spPr>
          <a:xfrm>
            <a:off x="9600000" y="1600000"/>
            <a:ext cx="2000000" cy="500000"/>
          </a:xfrm>
          <a:prstGeom prst="roundRect">
            <a:avLst/>
          </a:prstGeom>
          <a:solidFill>
            <a:srgbClr val="FFFFFF"/>
          </a:solidFill>
          <a:ln w="19050">
            <a:solidFill>
              <a:srgbClr val="26788C"/>
            </a:solidFill>
          </a:ln>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defRPr sz="800" b="1">
                <a:solidFill>
                  <a:srgbClr val="26788C"/>
                </a:solidFill>
                <a:latin typeface="Calibri"/>
              </a:defRPr>
            </a:pPr>
            <a:r>
              <a:t>🌍 Global Exhibits</a:t>
            </a:r>
          </a:p>
        </p:txBody>
      </p:sp>
      <p:sp>
        <p:nvSpPr>
          <p:cNvPr id="39" name="Rectangle 38"/>
          <p:cNvSpPr/>
          <p:nvPr/>
        </p:nvSpPr>
        <p:spPr>
          <a:xfrm>
            <a:off x="10590000" y="2100000"/>
            <a:ext cx="20000" cy="150000"/>
          </a:xfrm>
          <a:prstGeom prst="rect">
            <a:avLst/>
          </a:prstGeom>
          <a:solidFill>
            <a:srgbClr val="26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600000" y="900000"/>
            <a:ext cx="2000000" cy="600000"/>
          </a:xfrm>
          <a:prstGeom prst="rect">
            <a:avLst/>
          </a:prstGeom>
          <a:noFill/>
        </p:spPr>
        <p:txBody>
          <a:bodyPr wrap="square" lIns="25400" tIns="25400" rIns="25400" bIns="25400">
            <a:spAutoFit/>
          </a:bodyPr>
          <a:lstStyle/>
          <a:p>
            <a:pPr>
              <a:lnSpc>
                <a:spcPct val="105000"/>
              </a:lnSpc>
              <a:spcAft>
                <a:spcPts val="200"/>
              </a:spcAft>
              <a:defRPr sz="700">
                <a:solidFill>
                  <a:srgbClr val="333333"/>
                </a:solidFill>
                <a:latin typeface="Calibri"/>
              </a:defRPr>
            </a:pPr>
            <a:r>
              <a:t>• Expanded maps to target cities: Shenzhen, Paris, Shanghai, Amsterdam, Singapore.</a:t>
            </a:r>
          </a:p>
          <a:p>
            <a:pPr>
              <a:lnSpc>
                <a:spcPct val="105000"/>
              </a:lnSpc>
              <a:spcAft>
                <a:spcPts val="200"/>
              </a:spcAft>
              <a:defRPr sz="700">
                <a:solidFill>
                  <a:srgbClr val="333333"/>
                </a:solidFill>
                <a:latin typeface="Calibri"/>
              </a:defRPr>
            </a:pPr>
            <a:r>
              <a:t>• Integrated OTA Wi-Fi firmware updates.</a:t>
            </a:r>
          </a:p>
        </p:txBody>
      </p:sp>
      <p:sp>
        <p:nvSpPr>
          <p:cNvPr id="41" name="TextBox 40"/>
          <p:cNvSpPr txBox="1"/>
          <p:nvPr/>
        </p:nvSpPr>
        <p:spPr>
          <a:xfrm>
            <a:off x="9600000" y="2700000"/>
            <a:ext cx="2000000" cy="1200000"/>
          </a:xfrm>
          <a:prstGeom prst="rect">
            <a:avLst/>
          </a:prstGeom>
          <a:noFill/>
        </p:spPr>
        <p:txBody>
          <a:bodyPr wrap="square" lIns="25400" tIns="25400" rIns="25400" bIns="25400">
            <a:spAutoFit/>
          </a:bodyPr>
          <a:lstStyle/>
          <a:p>
            <a:pPr>
              <a:lnSpc>
                <a:spcPct val="105000"/>
              </a:lnSpc>
              <a:spcAft>
                <a:spcPts val="200"/>
              </a:spcAft>
              <a:defRPr sz="700">
                <a:solidFill>
                  <a:srgbClr val="333333"/>
                </a:solidFill>
                <a:latin typeface="Calibri"/>
              </a:defRPr>
            </a:pPr>
            <a:r>
              <a:t>• Mass PCB assembly outsourced to China.</a:t>
            </a:r>
          </a:p>
          <a:p>
            <a:pPr>
              <a:lnSpc>
                <a:spcPct val="105000"/>
              </a:lnSpc>
              <a:spcAft>
                <a:spcPts val="200"/>
              </a:spcAft>
              <a:defRPr sz="700">
                <a:solidFill>
                  <a:srgbClr val="333333"/>
                </a:solidFill>
                <a:latin typeface="Calibri"/>
              </a:defRPr>
            </a:pPr>
            <a:r>
              <a:t>• Commercial co-sponsorships with major energy operators (EDF/State Grid).</a:t>
            </a:r>
          </a:p>
        </p:txBody>
      </p:sp>
      <p:sp>
        <p:nvSpPr>
          <p:cNvPr id="42" name="TextBox 41"/>
          <p:cNvSpPr txBox="1"/>
          <p:nvPr/>
        </p:nvSpPr>
        <p:spPr>
          <a:xfrm>
            <a:off x="9600000" y="4100000"/>
            <a:ext cx="2000000" cy="1200000"/>
          </a:xfrm>
          <a:prstGeom prst="rect">
            <a:avLst/>
          </a:prstGeom>
          <a:noFill/>
        </p:spPr>
        <p:txBody>
          <a:bodyPr wrap="square" lIns="25400" tIns="25400" rIns="25400" bIns="25400">
            <a:spAutoFit/>
          </a:bodyPr>
          <a:lstStyle/>
          <a:p>
            <a:pPr>
              <a:lnSpc>
                <a:spcPct val="105000"/>
              </a:lnSpc>
              <a:spcAft>
                <a:spcPts val="200"/>
              </a:spcAft>
              <a:defRPr sz="700">
                <a:solidFill>
                  <a:srgbClr val="333333"/>
                </a:solidFill>
                <a:latin typeface="Calibri"/>
              </a:defRPr>
            </a:pPr>
            <a:r>
              <a:t>• Dedicated CRM sales pipeline under lead Nouh TARI.</a:t>
            </a:r>
          </a:p>
          <a:p>
            <a:pPr>
              <a:lnSpc>
                <a:spcPct val="105000"/>
              </a:lnSpc>
              <a:spcAft>
                <a:spcPts val="200"/>
              </a:spcAft>
              <a:defRPr sz="700">
                <a:solidFill>
                  <a:srgbClr val="333333"/>
                </a:solidFill>
                <a:latin typeface="Calibri"/>
              </a:defRPr>
            </a:pPr>
            <a:r>
              <a:t>• Scaled team roles from hands-on founders to department managers.</a:t>
            </a:r>
          </a:p>
        </p:txBody>
      </p:sp>
      <p:sp>
        <p:nvSpPr>
          <p:cNvPr id="43" name="TextBox 42"/>
          <p:cNvSpPr txBox="1"/>
          <p:nvPr/>
        </p:nvSpPr>
        <p:spPr>
          <a:xfrm>
            <a:off x="9600000" y="5500000"/>
            <a:ext cx="2000000" cy="700000"/>
          </a:xfrm>
          <a:prstGeom prst="rect">
            <a:avLst/>
          </a:prstGeom>
          <a:noFill/>
        </p:spPr>
        <p:txBody>
          <a:bodyPr wrap="square" lIns="25400" tIns="25400" rIns="25400" bIns="25400">
            <a:spAutoFit/>
          </a:bodyPr>
          <a:lstStyle/>
          <a:p>
            <a:pPr>
              <a:lnSpc>
                <a:spcPct val="105000"/>
              </a:lnSpc>
              <a:spcAft>
                <a:spcPts val="100"/>
              </a:spcAft>
              <a:defRPr sz="700" b="1">
                <a:solidFill>
                  <a:srgbClr val="D97706"/>
                </a:solidFill>
                <a:latin typeface="Calibri"/>
              </a:defRPr>
            </a:pPr>
            <a:r>
              <a:t>Gate 5:</a:t>
            </a:r>
          </a:p>
          <a:p>
            <a:pPr>
              <a:lnSpc>
                <a:spcPct val="105000"/>
              </a:lnSpc>
              <a:spcAft>
                <a:spcPts val="100"/>
              </a:spcAft>
              <a:defRPr sz="700" b="0">
                <a:solidFill>
                  <a:srgbClr val="333333"/>
                </a:solidFill>
                <a:latin typeface="Calibri"/>
              </a:defRPr>
            </a:pPr>
            <a:r>
              <a:t>• 10,000+ active users.</a:t>
            </a:r>
          </a:p>
          <a:p>
            <a:pPr>
              <a:lnSpc>
                <a:spcPct val="105000"/>
              </a:lnSpc>
              <a:spcAft>
                <a:spcPts val="100"/>
              </a:spcAft>
              <a:defRPr sz="700" b="0">
                <a:solidFill>
                  <a:srgbClr val="333333"/>
                </a:solidFill>
                <a:latin typeface="Calibri"/>
              </a:defRPr>
            </a:pPr>
            <a:r>
              <a:t>• 15+ museum exhibits live.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3E8FB9C-C1DA-095B-2FBB-23A666B98BB1}"/>
              </a:ext>
            </a:extLst>
          </p:cNvPr>
          <p:cNvSpPr>
            <a:spLocks noGrp="1"/>
          </p:cNvSpPr>
          <p:nvPr>
            <p:ph type="ftr" sz="quarter" idx="11"/>
          </p:nvPr>
        </p:nvSpPr>
        <p:spPr>
          <a:xfrm>
            <a:off x="4165600" y="6309344"/>
            <a:ext cx="3860800" cy="216000"/>
          </a:xfrm>
        </p:spPr>
        <p:txBody>
          <a:bodyPr/>
          <a:lstStyle/>
          <a:p>
            <a:r>
              <a:rPr lang="en-GB" altLang="zh-CN"/>
              <a:t>© 2018-2026 Etienne Charlier (DIY AI) All Right Reserved</a:t>
            </a:r>
            <a:endParaRPr lang="en-US"/>
          </a:p>
        </p:txBody>
      </p:sp>
      <p:sp>
        <p:nvSpPr>
          <p:cNvPr id="3" name="Slide Number Placeholder 2">
            <a:extLst>
              <a:ext uri="{FF2B5EF4-FFF2-40B4-BE49-F238E27FC236}">
                <a16:creationId xmlns:a16="http://schemas.microsoft.com/office/drawing/2014/main" id="{231FD5E9-9860-54A7-B7C2-5D02BCE03402}"/>
              </a:ext>
            </a:extLst>
          </p:cNvPr>
          <p:cNvSpPr>
            <a:spLocks noGrp="1"/>
          </p:cNvSpPr>
          <p:nvPr>
            <p:ph type="sldNum" sz="quarter" idx="12"/>
          </p:nvPr>
        </p:nvSpPr>
        <p:spPr/>
        <p:txBody>
          <a:bodyPr/>
          <a:lstStyle/>
          <a:p>
            <a:fld id="{76277A8F-E207-A04D-9DAB-D29F92A0BD80}" type="slidenum">
              <a:rPr lang="en-US" smtClean="0"/>
              <a:pPr/>
              <a:t>8</a:t>
            </a:fld>
            <a:endParaRPr lang="en-US" dirty="0"/>
          </a:p>
        </p:txBody>
      </p:sp>
      <p:sp>
        <p:nvSpPr>
          <p:cNvPr id="4" name="TextBox 3"/>
          <p:cNvSpPr txBox="1"/>
          <p:nvPr/>
        </p:nvSpPr>
        <p:spPr>
          <a:xfrm>
            <a:off x="334964" y="1"/>
            <a:ext cx="11857036" cy="720000"/>
          </a:xfrm>
          <a:prstGeom prst="rect">
            <a:avLst/>
          </a:prstGeom>
          <a:noFill/>
        </p:spPr>
        <p:txBody>
          <a:bodyPr wrap="square">
            <a:spAutoFit/>
          </a:bodyPr>
          <a:lstStyle/>
          <a:p>
            <a:pPr>
              <a:defRPr sz="2200" b="1">
                <a:solidFill>
                  <a:srgbClr val="26788C"/>
                </a:solidFill>
                <a:latin typeface="Calibri"/>
              </a:defRPr>
            </a:pPr>
            <a:r>
              <a:t>3. Capacity Ramp and Risks</a:t>
            </a:r>
          </a:p>
        </p:txBody>
      </p:sp>
      <p:sp>
        <p:nvSpPr>
          <p:cNvPr id="5" name="TextBox 4"/>
          <p:cNvSpPr txBox="1"/>
          <p:nvPr/>
        </p:nvSpPr>
        <p:spPr>
          <a:xfrm rot="16200000">
            <a:off x="-450000" y="1350000"/>
            <a:ext cx="1400000" cy="300000"/>
          </a:xfrm>
          <a:prstGeom prst="rect">
            <a:avLst/>
          </a:prstGeom>
          <a:noFill/>
        </p:spPr>
        <p:txBody>
          <a:bodyPr wrap="square" lIns="0" tIns="0" rIns="0" bIns="0" anchor="ctr">
            <a:spAutoFit/>
          </a:bodyPr>
          <a:lstStyle/>
          <a:p>
            <a:pPr algn="ctr">
              <a:defRPr sz="800" b="1">
                <a:solidFill>
                  <a:srgbClr val="26788C"/>
                </a:solidFill>
                <a:latin typeface="Calibri"/>
              </a:defRPr>
            </a:pPr>
            <a:r>
              <a:t>CAPACITY &amp; RESOURCES</a:t>
            </a:r>
          </a:p>
        </p:txBody>
      </p:sp>
      <p:sp>
        <p:nvSpPr>
          <p:cNvPr id="6" name="TextBox 5"/>
          <p:cNvSpPr txBox="1"/>
          <p:nvPr/>
        </p:nvSpPr>
        <p:spPr>
          <a:xfrm rot="16200000">
            <a:off x="-450000" y="3150000"/>
            <a:ext cx="1400000" cy="300000"/>
          </a:xfrm>
          <a:prstGeom prst="rect">
            <a:avLst/>
          </a:prstGeom>
          <a:noFill/>
        </p:spPr>
        <p:txBody>
          <a:bodyPr wrap="square" lIns="0" tIns="0" rIns="0" bIns="0" anchor="ctr">
            <a:spAutoFit/>
          </a:bodyPr>
          <a:lstStyle/>
          <a:p>
            <a:pPr algn="ctr">
              <a:defRPr sz="800" b="1">
                <a:solidFill>
                  <a:srgbClr val="26788C"/>
                </a:solidFill>
                <a:latin typeface="Calibri"/>
              </a:defRPr>
            </a:pPr>
            <a:r>
              <a:t>CAPABILITY &amp; LEARNING</a:t>
            </a:r>
          </a:p>
        </p:txBody>
      </p:sp>
      <p:sp>
        <p:nvSpPr>
          <p:cNvPr id="7" name="TextBox 6"/>
          <p:cNvSpPr txBox="1"/>
          <p:nvPr/>
        </p:nvSpPr>
        <p:spPr>
          <a:xfrm rot="16200000">
            <a:off x="-450000" y="4550000"/>
            <a:ext cx="1400000" cy="300000"/>
          </a:xfrm>
          <a:prstGeom prst="rect">
            <a:avLst/>
          </a:prstGeom>
          <a:noFill/>
        </p:spPr>
        <p:txBody>
          <a:bodyPr wrap="square" lIns="0" tIns="0" rIns="0" bIns="0" anchor="ctr">
            <a:spAutoFit/>
          </a:bodyPr>
          <a:lstStyle/>
          <a:p>
            <a:pPr algn="ctr">
              <a:defRPr sz="800" b="1">
                <a:solidFill>
                  <a:srgbClr val="26788C"/>
                </a:solidFill>
                <a:latin typeface="Calibri"/>
              </a:defRPr>
            </a:pPr>
            <a:r>
              <a:t>SCALE RISKS &amp; MITIGATION</a:t>
            </a:r>
          </a:p>
        </p:txBody>
      </p:sp>
      <p:sp>
        <p:nvSpPr>
          <p:cNvPr id="8" name="Right Arrow 7"/>
          <p:cNvSpPr/>
          <p:nvPr/>
        </p:nvSpPr>
        <p:spPr>
          <a:xfrm>
            <a:off x="800000" y="2350000"/>
            <a:ext cx="11000000" cy="100000"/>
          </a:xfrm>
          <a:prstGeom prst="rightArrow">
            <a:avLst/>
          </a:prstGeom>
          <a:solidFill>
            <a:srgbClr val="26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00000" y="2250000"/>
            <a:ext cx="2000000" cy="300000"/>
          </a:xfrm>
          <a:prstGeom prst="roundRect">
            <a:avLst/>
          </a:prstGeom>
          <a:solidFill>
            <a:srgbClr val="26788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50" b="1">
                <a:solidFill>
                  <a:srgbClr val="FFFFFF"/>
                </a:solidFill>
                <a:latin typeface="Calibri"/>
              </a:defRPr>
            </a:pPr>
            <a:r>
              <a:t>MVP (M1-2)</a:t>
            </a:r>
          </a:p>
        </p:txBody>
      </p:sp>
      <p:sp>
        <p:nvSpPr>
          <p:cNvPr id="10" name="Rounded Rectangle 9"/>
          <p:cNvSpPr/>
          <p:nvPr/>
        </p:nvSpPr>
        <p:spPr>
          <a:xfrm>
            <a:off x="800000" y="1600000"/>
            <a:ext cx="2000000" cy="500000"/>
          </a:xfrm>
          <a:prstGeom prst="roundRect">
            <a:avLst/>
          </a:prstGeom>
          <a:solidFill>
            <a:srgbClr val="FFFFFF"/>
          </a:solidFill>
          <a:ln w="19050">
            <a:solidFill>
              <a:srgbClr val="26788C"/>
            </a:solidFill>
          </a:ln>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defRPr sz="800" b="1">
                <a:solidFill>
                  <a:srgbClr val="26788C"/>
                </a:solidFill>
                <a:latin typeface="Calibri"/>
              </a:defRPr>
            </a:pPr>
            <a:r>
              <a:t>💡 1 Unit / M1</a:t>
            </a:r>
          </a:p>
        </p:txBody>
      </p:sp>
      <p:sp>
        <p:nvSpPr>
          <p:cNvPr id="11" name="Rectangle 10"/>
          <p:cNvSpPr/>
          <p:nvPr/>
        </p:nvSpPr>
        <p:spPr>
          <a:xfrm>
            <a:off x="1790000" y="2100000"/>
            <a:ext cx="20000" cy="150000"/>
          </a:xfrm>
          <a:prstGeom prst="rect">
            <a:avLst/>
          </a:prstGeom>
          <a:solidFill>
            <a:srgbClr val="26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0000" y="900000"/>
            <a:ext cx="2000000" cy="600000"/>
          </a:xfrm>
          <a:prstGeom prst="rect">
            <a:avLst/>
          </a:prstGeom>
          <a:noFill/>
        </p:spPr>
        <p:txBody>
          <a:bodyPr wrap="square" lIns="25400" tIns="25400" rIns="25400" bIns="25400">
            <a:spAutoFit/>
          </a:bodyPr>
          <a:lstStyle/>
          <a:p>
            <a:pPr>
              <a:lnSpc>
                <a:spcPct val="105000"/>
              </a:lnSpc>
              <a:spcAft>
                <a:spcPts val="200"/>
              </a:spcAft>
              <a:defRPr sz="700">
                <a:solidFill>
                  <a:srgbClr val="333333"/>
                </a:solidFill>
                <a:latin typeface="Calibri"/>
              </a:defRPr>
            </a:pPr>
            <a:r>
              <a:t>• 1 hand-wired physical unit (20 hrs build time).</a:t>
            </a:r>
          </a:p>
          <a:p>
            <a:pPr>
              <a:lnSpc>
                <a:spcPct val="105000"/>
              </a:lnSpc>
              <a:spcAft>
                <a:spcPts val="200"/>
              </a:spcAft>
              <a:defRPr sz="700">
                <a:solidFill>
                  <a:srgbClr val="333333"/>
                </a:solidFill>
                <a:latin typeface="Calibri"/>
              </a:defRPr>
            </a:pPr>
            <a:r>
              <a:t>• GitHub Pages web hosting (0€ backend cost).</a:t>
            </a:r>
          </a:p>
        </p:txBody>
      </p:sp>
      <p:sp>
        <p:nvSpPr>
          <p:cNvPr id="13" name="TextBox 12"/>
          <p:cNvSpPr txBox="1"/>
          <p:nvPr/>
        </p:nvSpPr>
        <p:spPr>
          <a:xfrm>
            <a:off x="800000" y="2700000"/>
            <a:ext cx="2000000" cy="1200000"/>
          </a:xfrm>
          <a:prstGeom prst="rect">
            <a:avLst/>
          </a:prstGeom>
          <a:noFill/>
        </p:spPr>
        <p:txBody>
          <a:bodyPr wrap="square" lIns="25400" tIns="25400" rIns="25400" bIns="25400">
            <a:spAutoFit/>
          </a:bodyPr>
          <a:lstStyle/>
          <a:p>
            <a:pPr>
              <a:lnSpc>
                <a:spcPct val="105000"/>
              </a:lnSpc>
              <a:spcAft>
                <a:spcPts val="200"/>
              </a:spcAft>
              <a:defRPr sz="700">
                <a:solidFill>
                  <a:srgbClr val="333333"/>
                </a:solidFill>
                <a:latin typeface="Calibri"/>
              </a:defRPr>
            </a:pPr>
            <a:r>
              <a:t>• CTO learns ESP32 Wi-Fi &amp; basic firmware routing.</a:t>
            </a:r>
          </a:p>
          <a:p>
            <a:pPr>
              <a:lnSpc>
                <a:spcPct val="105000"/>
              </a:lnSpc>
              <a:spcAft>
                <a:spcPts val="200"/>
              </a:spcAft>
              <a:defRPr sz="700">
                <a:solidFill>
                  <a:srgbClr val="333333"/>
                </a:solidFill>
                <a:latin typeface="Calibri"/>
              </a:defRPr>
            </a:pPr>
            <a:r>
              <a:t>• Sourcing via Taobao.</a:t>
            </a:r>
          </a:p>
        </p:txBody>
      </p:sp>
      <p:sp>
        <p:nvSpPr>
          <p:cNvPr id="14" name="TextBox 13"/>
          <p:cNvSpPr txBox="1"/>
          <p:nvPr/>
        </p:nvSpPr>
        <p:spPr>
          <a:xfrm>
            <a:off x="800000" y="4100000"/>
            <a:ext cx="2000000" cy="1200000"/>
          </a:xfrm>
          <a:prstGeom prst="rect">
            <a:avLst/>
          </a:prstGeom>
          <a:noFill/>
        </p:spPr>
        <p:txBody>
          <a:bodyPr wrap="square" lIns="25400" tIns="25400" rIns="25400" bIns="25400">
            <a:spAutoFit/>
          </a:bodyPr>
          <a:lstStyle/>
          <a:p>
            <a:pPr>
              <a:lnSpc>
                <a:spcPct val="105000"/>
              </a:lnSpc>
              <a:spcAft>
                <a:spcPts val="200"/>
              </a:spcAft>
              <a:defRPr sz="700">
                <a:solidFill>
                  <a:srgbClr val="333333"/>
                </a:solidFill>
                <a:latin typeface="Calibri"/>
              </a:defRPr>
            </a:pPr>
            <a:r>
              <a:t>• Risk: Sourcing delays.</a:t>
            </a:r>
          </a:p>
          <a:p>
            <a:pPr>
              <a:lnSpc>
                <a:spcPct val="105000"/>
              </a:lnSpc>
              <a:spcAft>
                <a:spcPts val="200"/>
              </a:spcAft>
              <a:defRPr sz="700">
                <a:solidFill>
                  <a:srgbClr val="333333"/>
                </a:solidFill>
                <a:latin typeface="Calibri"/>
              </a:defRPr>
            </a:pPr>
            <a:r>
              <a:t>• Mitigation: Procure early from Taobao open markets.</a:t>
            </a:r>
          </a:p>
        </p:txBody>
      </p:sp>
      <p:sp>
        <p:nvSpPr>
          <p:cNvPr id="15" name="Rounded Rectangle 14"/>
          <p:cNvSpPr/>
          <p:nvPr/>
        </p:nvSpPr>
        <p:spPr>
          <a:xfrm>
            <a:off x="3000000" y="2250000"/>
            <a:ext cx="2000000" cy="300000"/>
          </a:xfrm>
          <a:prstGeom prst="roundRect">
            <a:avLst/>
          </a:prstGeom>
          <a:solidFill>
            <a:srgbClr val="26788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50" b="1">
                <a:solidFill>
                  <a:srgbClr val="FFFFFF"/>
                </a:solidFill>
                <a:latin typeface="Calibri"/>
              </a:defRPr>
            </a:pPr>
            <a:r>
              <a:t>PILOT (M3-4)</a:t>
            </a:r>
          </a:p>
        </p:txBody>
      </p:sp>
      <p:sp>
        <p:nvSpPr>
          <p:cNvPr id="16" name="Rounded Rectangle 15"/>
          <p:cNvSpPr/>
          <p:nvPr/>
        </p:nvSpPr>
        <p:spPr>
          <a:xfrm>
            <a:off x="3000000" y="1600000"/>
            <a:ext cx="2000000" cy="500000"/>
          </a:xfrm>
          <a:prstGeom prst="roundRect">
            <a:avLst/>
          </a:prstGeom>
          <a:solidFill>
            <a:srgbClr val="FFFFFF"/>
          </a:solidFill>
          <a:ln w="19050">
            <a:solidFill>
              <a:srgbClr val="26788C"/>
            </a:solidFill>
          </a:ln>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defRPr sz="800" b="1">
                <a:solidFill>
                  <a:srgbClr val="26788C"/>
                </a:solidFill>
                <a:latin typeface="Calibri"/>
              </a:defRPr>
            </a:pPr>
            <a:r>
              <a:t>📦 3 Units / M2-4</a:t>
            </a:r>
          </a:p>
        </p:txBody>
      </p:sp>
      <p:sp>
        <p:nvSpPr>
          <p:cNvPr id="17" name="Rectangle 16"/>
          <p:cNvSpPr/>
          <p:nvPr/>
        </p:nvSpPr>
        <p:spPr>
          <a:xfrm>
            <a:off x="3990000" y="2100000"/>
            <a:ext cx="20000" cy="150000"/>
          </a:xfrm>
          <a:prstGeom prst="rect">
            <a:avLst/>
          </a:prstGeom>
          <a:solidFill>
            <a:srgbClr val="26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000000" y="900000"/>
            <a:ext cx="2000000" cy="600000"/>
          </a:xfrm>
          <a:prstGeom prst="rect">
            <a:avLst/>
          </a:prstGeom>
          <a:noFill/>
        </p:spPr>
        <p:txBody>
          <a:bodyPr wrap="square" lIns="25400" tIns="25400" rIns="25400" bIns="25400">
            <a:spAutoFit/>
          </a:bodyPr>
          <a:lstStyle/>
          <a:p>
            <a:pPr>
              <a:lnSpc>
                <a:spcPct val="105000"/>
              </a:lnSpc>
              <a:spcAft>
                <a:spcPts val="200"/>
              </a:spcAft>
              <a:defRPr sz="700">
                <a:solidFill>
                  <a:srgbClr val="333333"/>
                </a:solidFill>
                <a:latin typeface="Calibri"/>
              </a:defRPr>
            </a:pPr>
            <a:r>
              <a:t>• 3 physical units built in campus fablabs (10 hours build time per unit using 3D printers).</a:t>
            </a:r>
          </a:p>
          <a:p>
            <a:pPr>
              <a:lnSpc>
                <a:spcPct val="105000"/>
              </a:lnSpc>
              <a:spcAft>
                <a:spcPts val="200"/>
              </a:spcAft>
              <a:defRPr sz="700">
                <a:solidFill>
                  <a:srgbClr val="333333"/>
                </a:solidFill>
                <a:latin typeface="Calibri"/>
              </a:defRPr>
            </a:pPr>
            <a:r>
              <a:t>• Nouh TARI manages CRM.</a:t>
            </a:r>
          </a:p>
        </p:txBody>
      </p:sp>
      <p:sp>
        <p:nvSpPr>
          <p:cNvPr id="19" name="TextBox 18"/>
          <p:cNvSpPr txBox="1"/>
          <p:nvPr/>
        </p:nvSpPr>
        <p:spPr>
          <a:xfrm>
            <a:off x="3000000" y="2700000"/>
            <a:ext cx="2000000" cy="1200000"/>
          </a:xfrm>
          <a:prstGeom prst="rect">
            <a:avLst/>
          </a:prstGeom>
          <a:noFill/>
        </p:spPr>
        <p:txBody>
          <a:bodyPr wrap="square" lIns="25400" tIns="25400" rIns="25400" bIns="25400">
            <a:spAutoFit/>
          </a:bodyPr>
          <a:lstStyle/>
          <a:p>
            <a:pPr>
              <a:lnSpc>
                <a:spcPct val="105000"/>
              </a:lnSpc>
              <a:spcAft>
                <a:spcPts val="200"/>
              </a:spcAft>
              <a:defRPr sz="700">
                <a:solidFill>
                  <a:srgbClr val="333333"/>
                </a:solidFill>
                <a:latin typeface="Calibri"/>
              </a:defRPr>
            </a:pPr>
            <a:r>
              <a:t>• CTO masters HSL lighting calibration.</a:t>
            </a:r>
          </a:p>
          <a:p>
            <a:pPr>
              <a:lnSpc>
                <a:spcPct val="105000"/>
              </a:lnSpc>
              <a:spcAft>
                <a:spcPts val="200"/>
              </a:spcAft>
              <a:defRPr sz="700">
                <a:solidFill>
                  <a:srgbClr val="333333"/>
                </a:solidFill>
                <a:latin typeface="Calibri"/>
              </a:defRPr>
            </a:pPr>
            <a:r>
              <a:t>• Nouh TARI establishes CRM feedback loops with beta testers.</a:t>
            </a:r>
          </a:p>
        </p:txBody>
      </p:sp>
      <p:sp>
        <p:nvSpPr>
          <p:cNvPr id="20" name="TextBox 19"/>
          <p:cNvSpPr txBox="1"/>
          <p:nvPr/>
        </p:nvSpPr>
        <p:spPr>
          <a:xfrm>
            <a:off x="3000000" y="4100000"/>
            <a:ext cx="2000000" cy="1200000"/>
          </a:xfrm>
          <a:prstGeom prst="rect">
            <a:avLst/>
          </a:prstGeom>
          <a:noFill/>
        </p:spPr>
        <p:txBody>
          <a:bodyPr wrap="square" lIns="25400" tIns="25400" rIns="25400" bIns="25400">
            <a:spAutoFit/>
          </a:bodyPr>
          <a:lstStyle/>
          <a:p>
            <a:pPr>
              <a:lnSpc>
                <a:spcPct val="105000"/>
              </a:lnSpc>
              <a:spcAft>
                <a:spcPts val="200"/>
              </a:spcAft>
              <a:defRPr sz="700">
                <a:solidFill>
                  <a:srgbClr val="333333"/>
                </a:solidFill>
                <a:latin typeface="Calibri"/>
              </a:defRPr>
            </a:pPr>
            <a:r>
              <a:t>• Risk: Novelty fatigue.</a:t>
            </a:r>
          </a:p>
          <a:p>
            <a:pPr>
              <a:lnSpc>
                <a:spcPct val="105000"/>
              </a:lnSpc>
              <a:spcAft>
                <a:spcPts val="200"/>
              </a:spcAft>
              <a:defRPr sz="700">
                <a:solidFill>
                  <a:srgbClr val="333333"/>
                </a:solidFill>
                <a:latin typeface="Calibri"/>
              </a:defRPr>
            </a:pPr>
            <a:r>
              <a:t>• Mitigation: Design annual scenario updates (Bastille Day).</a:t>
            </a:r>
          </a:p>
        </p:txBody>
      </p:sp>
      <p:sp>
        <p:nvSpPr>
          <p:cNvPr id="21" name="Rounded Rectangle 20"/>
          <p:cNvSpPr/>
          <p:nvPr/>
        </p:nvSpPr>
        <p:spPr>
          <a:xfrm>
            <a:off x="5200000" y="2250000"/>
            <a:ext cx="2000000" cy="300000"/>
          </a:xfrm>
          <a:prstGeom prst="roundRect">
            <a:avLst/>
          </a:prstGeom>
          <a:solidFill>
            <a:srgbClr val="26788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50" b="1">
                <a:solidFill>
                  <a:srgbClr val="FFFFFF"/>
                </a:solidFill>
                <a:latin typeface="Calibri"/>
              </a:defRPr>
            </a:pPr>
            <a:r>
              <a:t>INDUS. (M5-6)</a:t>
            </a:r>
          </a:p>
        </p:txBody>
      </p:sp>
      <p:sp>
        <p:nvSpPr>
          <p:cNvPr id="22" name="Rounded Rectangle 21"/>
          <p:cNvSpPr/>
          <p:nvPr/>
        </p:nvSpPr>
        <p:spPr>
          <a:xfrm>
            <a:off x="5200000" y="1600000"/>
            <a:ext cx="2000000" cy="500000"/>
          </a:xfrm>
          <a:prstGeom prst="roundRect">
            <a:avLst/>
          </a:prstGeom>
          <a:solidFill>
            <a:srgbClr val="FFFFFF"/>
          </a:solidFill>
          <a:ln w="19050">
            <a:solidFill>
              <a:srgbClr val="26788C"/>
            </a:solidFill>
          </a:ln>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defRPr sz="800" b="1">
                <a:solidFill>
                  <a:srgbClr val="26788C"/>
                </a:solidFill>
                <a:latin typeface="Calibri"/>
              </a:defRPr>
            </a:pPr>
            <a:r>
              <a:t>🛠 10 Units / M5-6</a:t>
            </a:r>
          </a:p>
        </p:txBody>
      </p:sp>
      <p:sp>
        <p:nvSpPr>
          <p:cNvPr id="23" name="Rectangle 22"/>
          <p:cNvSpPr/>
          <p:nvPr/>
        </p:nvSpPr>
        <p:spPr>
          <a:xfrm>
            <a:off x="6190000" y="2100000"/>
            <a:ext cx="20000" cy="150000"/>
          </a:xfrm>
          <a:prstGeom prst="rect">
            <a:avLst/>
          </a:prstGeom>
          <a:solidFill>
            <a:srgbClr val="26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200000" y="900000"/>
            <a:ext cx="2000000" cy="600000"/>
          </a:xfrm>
          <a:prstGeom prst="rect">
            <a:avLst/>
          </a:prstGeom>
          <a:noFill/>
        </p:spPr>
        <p:txBody>
          <a:bodyPr wrap="square" lIns="25400" tIns="25400" rIns="25400" bIns="25400">
            <a:spAutoFit/>
          </a:bodyPr>
          <a:lstStyle/>
          <a:p>
            <a:pPr>
              <a:lnSpc>
                <a:spcPct val="105000"/>
              </a:lnSpc>
              <a:spcAft>
                <a:spcPts val="200"/>
              </a:spcAft>
              <a:defRPr sz="700">
                <a:solidFill>
                  <a:srgbClr val="333333"/>
                </a:solidFill>
                <a:latin typeface="Calibri"/>
              </a:defRPr>
            </a:pPr>
            <a:r>
              <a:t>• 10 physical units. Custom PCB manufacturing reduces assembly to 2 hrs/unit.</a:t>
            </a:r>
          </a:p>
          <a:p>
            <a:pPr>
              <a:lnSpc>
                <a:spcPct val="105000"/>
              </a:lnSpc>
              <a:spcAft>
                <a:spcPts val="200"/>
              </a:spcAft>
              <a:defRPr sz="700">
                <a:solidFill>
                  <a:srgbClr val="333333"/>
                </a:solidFill>
                <a:latin typeface="Calibri"/>
              </a:defRPr>
            </a:pPr>
            <a:r>
              <a:t>• Established reliable Taobao component suppliers.</a:t>
            </a:r>
          </a:p>
        </p:txBody>
      </p:sp>
      <p:sp>
        <p:nvSpPr>
          <p:cNvPr id="25" name="TextBox 24"/>
          <p:cNvSpPr txBox="1"/>
          <p:nvPr/>
        </p:nvSpPr>
        <p:spPr>
          <a:xfrm>
            <a:off x="5200000" y="2700000"/>
            <a:ext cx="2000000" cy="1200000"/>
          </a:xfrm>
          <a:prstGeom prst="rect">
            <a:avLst/>
          </a:prstGeom>
          <a:noFill/>
        </p:spPr>
        <p:txBody>
          <a:bodyPr wrap="square" lIns="25400" tIns="25400" rIns="25400" bIns="25400">
            <a:spAutoFit/>
          </a:bodyPr>
          <a:lstStyle/>
          <a:p>
            <a:pPr>
              <a:lnSpc>
                <a:spcPct val="105000"/>
              </a:lnSpc>
              <a:spcAft>
                <a:spcPts val="200"/>
              </a:spcAft>
              <a:defRPr sz="700">
                <a:solidFill>
                  <a:srgbClr val="333333"/>
                </a:solidFill>
                <a:latin typeface="Calibri"/>
              </a:defRPr>
            </a:pPr>
            <a:r>
              <a:t>• Operations lead implements custom PCB routing.</a:t>
            </a:r>
          </a:p>
          <a:p>
            <a:pPr>
              <a:lnSpc>
                <a:spcPct val="105000"/>
              </a:lnSpc>
              <a:spcAft>
                <a:spcPts val="200"/>
              </a:spcAft>
              <a:defRPr sz="700">
                <a:solidFill>
                  <a:srgbClr val="333333"/>
                </a:solidFill>
                <a:latin typeface="Calibri"/>
              </a:defRPr>
            </a:pPr>
            <a:r>
              <a:t>• CEO Abir initiates CE marking regulatory pathways.</a:t>
            </a:r>
          </a:p>
        </p:txBody>
      </p:sp>
      <p:sp>
        <p:nvSpPr>
          <p:cNvPr id="26" name="TextBox 25"/>
          <p:cNvSpPr txBox="1"/>
          <p:nvPr/>
        </p:nvSpPr>
        <p:spPr>
          <a:xfrm>
            <a:off x="5200000" y="4100000"/>
            <a:ext cx="2000000" cy="1200000"/>
          </a:xfrm>
          <a:prstGeom prst="rect">
            <a:avLst/>
          </a:prstGeom>
          <a:noFill/>
        </p:spPr>
        <p:txBody>
          <a:bodyPr wrap="square" lIns="25400" tIns="25400" rIns="25400" bIns="25400">
            <a:spAutoFit/>
          </a:bodyPr>
          <a:lstStyle/>
          <a:p>
            <a:pPr>
              <a:lnSpc>
                <a:spcPct val="105000"/>
              </a:lnSpc>
              <a:spcAft>
                <a:spcPts val="200"/>
              </a:spcAft>
              <a:defRPr sz="700">
                <a:solidFill>
                  <a:srgbClr val="333333"/>
                </a:solidFill>
                <a:latin typeface="Calibri"/>
              </a:defRPr>
            </a:pPr>
            <a:r>
              <a:t>• Risk: School regulatory blockages.</a:t>
            </a:r>
          </a:p>
          <a:p>
            <a:pPr>
              <a:lnSpc>
                <a:spcPct val="105000"/>
              </a:lnSpc>
              <a:spcAft>
                <a:spcPts val="200"/>
              </a:spcAft>
              <a:defRPr sz="700">
                <a:solidFill>
                  <a:srgbClr val="333333"/>
                </a:solidFill>
                <a:latin typeface="Calibri"/>
              </a:defRPr>
            </a:pPr>
            <a:r>
              <a:t>• Mitigation: Consult CE marking experts early (Q3).</a:t>
            </a:r>
          </a:p>
        </p:txBody>
      </p:sp>
      <p:sp>
        <p:nvSpPr>
          <p:cNvPr id="27" name="Rounded Rectangle 26"/>
          <p:cNvSpPr/>
          <p:nvPr/>
        </p:nvSpPr>
        <p:spPr>
          <a:xfrm>
            <a:off x="7400000" y="2250000"/>
            <a:ext cx="2000000" cy="300000"/>
          </a:xfrm>
          <a:prstGeom prst="roundRect">
            <a:avLst/>
          </a:prstGeom>
          <a:solidFill>
            <a:srgbClr val="26788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50" b="1">
                <a:solidFill>
                  <a:srgbClr val="FFFFFF"/>
                </a:solidFill>
                <a:latin typeface="Calibri"/>
              </a:defRPr>
            </a:pPr>
            <a:r>
              <a:t>LIMITED (M7-12)</a:t>
            </a:r>
          </a:p>
        </p:txBody>
      </p:sp>
      <p:sp>
        <p:nvSpPr>
          <p:cNvPr id="28" name="Rounded Rectangle 27"/>
          <p:cNvSpPr/>
          <p:nvPr/>
        </p:nvSpPr>
        <p:spPr>
          <a:xfrm>
            <a:off x="7400000" y="1600000"/>
            <a:ext cx="2000000" cy="500000"/>
          </a:xfrm>
          <a:prstGeom prst="roundRect">
            <a:avLst/>
          </a:prstGeom>
          <a:solidFill>
            <a:srgbClr val="FFFFFF"/>
          </a:solidFill>
          <a:ln w="19050">
            <a:solidFill>
              <a:srgbClr val="26788C"/>
            </a:solidFill>
          </a:ln>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defRPr sz="800" b="1">
                <a:solidFill>
                  <a:srgbClr val="26788C"/>
                </a:solidFill>
                <a:latin typeface="Calibri"/>
              </a:defRPr>
            </a:pPr>
            <a:r>
              <a:t>⚙️ 30 Units / M7-12</a:t>
            </a:r>
          </a:p>
        </p:txBody>
      </p:sp>
      <p:sp>
        <p:nvSpPr>
          <p:cNvPr id="29" name="Rectangle 28"/>
          <p:cNvSpPr/>
          <p:nvPr/>
        </p:nvSpPr>
        <p:spPr>
          <a:xfrm>
            <a:off x="8390000" y="2100000"/>
            <a:ext cx="20000" cy="150000"/>
          </a:xfrm>
          <a:prstGeom prst="rect">
            <a:avLst/>
          </a:prstGeom>
          <a:solidFill>
            <a:srgbClr val="26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400000" y="900000"/>
            <a:ext cx="2000000" cy="600000"/>
          </a:xfrm>
          <a:prstGeom prst="rect">
            <a:avLst/>
          </a:prstGeom>
          <a:noFill/>
        </p:spPr>
        <p:txBody>
          <a:bodyPr wrap="square" lIns="25400" tIns="25400" rIns="25400" bIns="25400">
            <a:spAutoFit/>
          </a:bodyPr>
          <a:lstStyle/>
          <a:p>
            <a:pPr>
              <a:lnSpc>
                <a:spcPct val="105000"/>
              </a:lnSpc>
              <a:spcAft>
                <a:spcPts val="200"/>
              </a:spcAft>
              <a:defRPr sz="700">
                <a:solidFill>
                  <a:srgbClr val="333333"/>
                </a:solidFill>
                <a:latin typeface="Calibri"/>
              </a:defRPr>
            </a:pPr>
            <a:r>
              <a:t>• 30 physical leasing units.</a:t>
            </a:r>
          </a:p>
          <a:p>
            <a:pPr>
              <a:lnSpc>
                <a:spcPct val="105000"/>
              </a:lnSpc>
              <a:spcAft>
                <a:spcPts val="200"/>
              </a:spcAft>
              <a:defRPr sz="700">
                <a:solidFill>
                  <a:srgbClr val="333333"/>
                </a:solidFill>
                <a:latin typeface="Calibri"/>
              </a:defRPr>
            </a:pPr>
            <a:r>
              <a:t>• Standardized B2B rental maintenance logs.</a:t>
            </a:r>
          </a:p>
        </p:txBody>
      </p:sp>
      <p:sp>
        <p:nvSpPr>
          <p:cNvPr id="31" name="TextBox 30"/>
          <p:cNvSpPr txBox="1"/>
          <p:nvPr/>
        </p:nvSpPr>
        <p:spPr>
          <a:xfrm>
            <a:off x="7400000" y="2700000"/>
            <a:ext cx="2000000" cy="1200000"/>
          </a:xfrm>
          <a:prstGeom prst="rect">
            <a:avLst/>
          </a:prstGeom>
          <a:noFill/>
        </p:spPr>
        <p:txBody>
          <a:bodyPr wrap="square" lIns="25400" tIns="25400" rIns="25400" bIns="25400">
            <a:spAutoFit/>
          </a:bodyPr>
          <a:lstStyle/>
          <a:p>
            <a:pPr>
              <a:lnSpc>
                <a:spcPct val="105000"/>
              </a:lnSpc>
              <a:spcAft>
                <a:spcPts val="200"/>
              </a:spcAft>
              <a:defRPr sz="700">
                <a:solidFill>
                  <a:srgbClr val="333333"/>
                </a:solidFill>
                <a:latin typeface="Calibri"/>
              </a:defRPr>
            </a:pPr>
            <a:r>
              <a:t>• Nouh TARI developed formal B2B lease contracts, pricing grids, and sales dossiers.</a:t>
            </a:r>
          </a:p>
          <a:p>
            <a:pPr>
              <a:lnSpc>
                <a:spcPct val="105000"/>
              </a:lnSpc>
              <a:spcAft>
                <a:spcPts val="200"/>
              </a:spcAft>
              <a:defRPr sz="700">
                <a:solidFill>
                  <a:srgbClr val="333333"/>
                </a:solidFill>
                <a:latin typeface="Calibri"/>
              </a:defRPr>
            </a:pPr>
            <a:r>
              <a:t>• Specialized roles formalized.</a:t>
            </a:r>
          </a:p>
        </p:txBody>
      </p:sp>
      <p:sp>
        <p:nvSpPr>
          <p:cNvPr id="32" name="TextBox 31"/>
          <p:cNvSpPr txBox="1"/>
          <p:nvPr/>
        </p:nvSpPr>
        <p:spPr>
          <a:xfrm>
            <a:off x="7400000" y="4100000"/>
            <a:ext cx="2000000" cy="1200000"/>
          </a:xfrm>
          <a:prstGeom prst="rect">
            <a:avLst/>
          </a:prstGeom>
          <a:noFill/>
        </p:spPr>
        <p:txBody>
          <a:bodyPr wrap="square" lIns="25400" tIns="25400" rIns="25400" bIns="25400">
            <a:spAutoFit/>
          </a:bodyPr>
          <a:lstStyle/>
          <a:p>
            <a:pPr>
              <a:lnSpc>
                <a:spcPct val="105000"/>
              </a:lnSpc>
              <a:spcAft>
                <a:spcPts val="200"/>
              </a:spcAft>
              <a:defRPr sz="700">
                <a:solidFill>
                  <a:srgbClr val="333333"/>
                </a:solidFill>
                <a:latin typeface="Calibri"/>
              </a:defRPr>
            </a:pPr>
            <a:r>
              <a:t>• Risk: Sourcing price fluctuations for chips.</a:t>
            </a:r>
          </a:p>
          <a:p>
            <a:pPr>
              <a:lnSpc>
                <a:spcPct val="105000"/>
              </a:lnSpc>
              <a:spcAft>
                <a:spcPts val="200"/>
              </a:spcAft>
              <a:defRPr sz="700">
                <a:solidFill>
                  <a:srgbClr val="333333"/>
                </a:solidFill>
                <a:latin typeface="Calibri"/>
              </a:defRPr>
            </a:pPr>
            <a:r>
              <a:t>• Mitigation: Lock bulk procurement agreements early.</a:t>
            </a:r>
          </a:p>
        </p:txBody>
      </p:sp>
      <p:sp>
        <p:nvSpPr>
          <p:cNvPr id="33" name="Rounded Rectangle 32"/>
          <p:cNvSpPr/>
          <p:nvPr/>
        </p:nvSpPr>
        <p:spPr>
          <a:xfrm>
            <a:off x="9600000" y="2250000"/>
            <a:ext cx="2000000" cy="300000"/>
          </a:xfrm>
          <a:prstGeom prst="roundRect">
            <a:avLst/>
          </a:prstGeom>
          <a:solidFill>
            <a:srgbClr val="26788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50" b="1">
                <a:solidFill>
                  <a:srgbClr val="FFFFFF"/>
                </a:solidFill>
                <a:latin typeface="Calibri"/>
              </a:defRPr>
            </a:pPr>
            <a:r>
              <a:t>WIDE (Y2-3)</a:t>
            </a:r>
          </a:p>
        </p:txBody>
      </p:sp>
      <p:sp>
        <p:nvSpPr>
          <p:cNvPr id="34" name="Rounded Rectangle 33"/>
          <p:cNvSpPr/>
          <p:nvPr/>
        </p:nvSpPr>
        <p:spPr>
          <a:xfrm>
            <a:off x="9600000" y="1600000"/>
            <a:ext cx="2000000" cy="500000"/>
          </a:xfrm>
          <a:prstGeom prst="roundRect">
            <a:avLst/>
          </a:prstGeom>
          <a:solidFill>
            <a:srgbClr val="FFFFFF"/>
          </a:solidFill>
          <a:ln w="19050">
            <a:solidFill>
              <a:srgbClr val="26788C"/>
            </a:solidFill>
          </a:ln>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defRPr sz="800" b="1">
                <a:solidFill>
                  <a:srgbClr val="26788C"/>
                </a:solidFill>
                <a:latin typeface="Calibri"/>
              </a:defRPr>
            </a:pPr>
            <a:r>
              <a:t>🌍 100+ Units / Y2-3</a:t>
            </a:r>
          </a:p>
        </p:txBody>
      </p:sp>
      <p:sp>
        <p:nvSpPr>
          <p:cNvPr id="35" name="Rectangle 34"/>
          <p:cNvSpPr/>
          <p:nvPr/>
        </p:nvSpPr>
        <p:spPr>
          <a:xfrm>
            <a:off x="10590000" y="2100000"/>
            <a:ext cx="20000" cy="150000"/>
          </a:xfrm>
          <a:prstGeom prst="rect">
            <a:avLst/>
          </a:prstGeom>
          <a:solidFill>
            <a:srgbClr val="26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600000" y="900000"/>
            <a:ext cx="2000000" cy="600000"/>
          </a:xfrm>
          <a:prstGeom prst="rect">
            <a:avLst/>
          </a:prstGeom>
          <a:noFill/>
        </p:spPr>
        <p:txBody>
          <a:bodyPr wrap="square" lIns="25400" tIns="25400" rIns="25400" bIns="25400">
            <a:spAutoFit/>
          </a:bodyPr>
          <a:lstStyle/>
          <a:p>
            <a:pPr>
              <a:lnSpc>
                <a:spcPct val="105000"/>
              </a:lnSpc>
              <a:spcAft>
                <a:spcPts val="200"/>
              </a:spcAft>
              <a:defRPr sz="700">
                <a:solidFill>
                  <a:srgbClr val="333333"/>
                </a:solidFill>
                <a:latin typeface="Calibri"/>
              </a:defRPr>
            </a:pPr>
            <a:r>
              <a:t>• 100+ physical units deployed globally with outsourced assembly.</a:t>
            </a:r>
          </a:p>
          <a:p>
            <a:pPr>
              <a:lnSpc>
                <a:spcPct val="105000"/>
              </a:lnSpc>
              <a:spcAft>
                <a:spcPts val="200"/>
              </a:spcAft>
              <a:defRPr sz="700">
                <a:solidFill>
                  <a:srgbClr val="333333"/>
                </a:solidFill>
                <a:latin typeface="Calibri"/>
              </a:defRPr>
            </a:pPr>
            <a:r>
              <a:t>• Global CDN hosting.</a:t>
            </a:r>
          </a:p>
        </p:txBody>
      </p:sp>
      <p:sp>
        <p:nvSpPr>
          <p:cNvPr id="37" name="TextBox 36"/>
          <p:cNvSpPr txBox="1"/>
          <p:nvPr/>
        </p:nvSpPr>
        <p:spPr>
          <a:xfrm>
            <a:off x="9600000" y="2700000"/>
            <a:ext cx="2000000" cy="1200000"/>
          </a:xfrm>
          <a:prstGeom prst="rect">
            <a:avLst/>
          </a:prstGeom>
          <a:noFill/>
        </p:spPr>
        <p:txBody>
          <a:bodyPr wrap="square" lIns="25400" tIns="25400" rIns="25400" bIns="25400">
            <a:spAutoFit/>
          </a:bodyPr>
          <a:lstStyle/>
          <a:p>
            <a:pPr>
              <a:lnSpc>
                <a:spcPct val="105000"/>
              </a:lnSpc>
              <a:spcAft>
                <a:spcPts val="200"/>
              </a:spcAft>
              <a:defRPr sz="700">
                <a:solidFill>
                  <a:srgbClr val="333333"/>
                </a:solidFill>
                <a:latin typeface="Calibri"/>
              </a:defRPr>
            </a:pPr>
            <a:r>
              <a:t>• Founders transitioned from hands-on makers to managers leading specialized teams.</a:t>
            </a:r>
          </a:p>
          <a:p>
            <a:pPr>
              <a:lnSpc>
                <a:spcPct val="105000"/>
              </a:lnSpc>
              <a:spcAft>
                <a:spcPts val="200"/>
              </a:spcAft>
              <a:defRPr sz="700">
                <a:solidFill>
                  <a:srgbClr val="333333"/>
                </a:solidFill>
                <a:latin typeface="Calibri"/>
              </a:defRPr>
            </a:pPr>
            <a:r>
              <a:t>• OTA firmware updates and CRM platform integration.</a:t>
            </a:r>
          </a:p>
        </p:txBody>
      </p:sp>
      <p:sp>
        <p:nvSpPr>
          <p:cNvPr id="38" name="TextBox 37"/>
          <p:cNvSpPr txBox="1"/>
          <p:nvPr/>
        </p:nvSpPr>
        <p:spPr>
          <a:xfrm>
            <a:off x="9600000" y="4100000"/>
            <a:ext cx="2000000" cy="1200000"/>
          </a:xfrm>
          <a:prstGeom prst="rect">
            <a:avLst/>
          </a:prstGeom>
          <a:noFill/>
        </p:spPr>
        <p:txBody>
          <a:bodyPr wrap="square" lIns="25400" tIns="25400" rIns="25400" bIns="25400">
            <a:spAutoFit/>
          </a:bodyPr>
          <a:lstStyle/>
          <a:p>
            <a:pPr>
              <a:lnSpc>
                <a:spcPct val="105000"/>
              </a:lnSpc>
              <a:spcAft>
                <a:spcPts val="200"/>
              </a:spcAft>
              <a:defRPr sz="700">
                <a:solidFill>
                  <a:srgbClr val="333333"/>
                </a:solidFill>
                <a:latin typeface="Calibri"/>
              </a:defRPr>
            </a:pPr>
            <a:r>
              <a:t>• Risk: Public engagement novelty fatigue.</a:t>
            </a:r>
          </a:p>
          <a:p>
            <a:pPr>
              <a:lnSpc>
                <a:spcPct val="105000"/>
              </a:lnSpc>
              <a:spcAft>
                <a:spcPts val="200"/>
              </a:spcAft>
              <a:defRPr sz="700">
                <a:solidFill>
                  <a:srgbClr val="333333"/>
                </a:solidFill>
                <a:latin typeface="Calibri"/>
              </a:defRPr>
            </a:pPr>
            <a:r>
              <a:t>• Mitigation: Mohamed designs and deploys annual scenario updates pushed via OTA.</a:t>
            </a:r>
          </a:p>
        </p:txBody>
      </p:sp>
      <p:sp>
        <p:nvSpPr>
          <p:cNvPr id="39" name="Rounded Rectangle 38"/>
          <p:cNvSpPr/>
          <p:nvPr/>
        </p:nvSpPr>
        <p:spPr>
          <a:xfrm>
            <a:off x="800000" y="5500000"/>
            <a:ext cx="11000000" cy="500000"/>
          </a:xfrm>
          <a:prstGeom prst="roundRect">
            <a:avLst/>
          </a:prstGeom>
          <a:solidFill>
            <a:srgbClr val="26788C"/>
          </a:solidFill>
          <a:ln>
            <a:noFill/>
          </a:ln>
        </p:spPr>
        <p:style>
          <a:lnRef idx="1">
            <a:schemeClr val="accent1"/>
          </a:lnRef>
          <a:fillRef idx="3">
            <a:schemeClr val="accent1"/>
          </a:fillRef>
          <a:effectRef idx="2">
            <a:schemeClr val="accent1"/>
          </a:effectRef>
          <a:fontRef idx="minor">
            <a:schemeClr val="lt1"/>
          </a:fontRef>
        </p:style>
        <p:txBody>
          <a:bodyPr wrap="square" lIns="63500" tIns="63500" rIns="63500" bIns="63500" rtlCol="0" anchor="ctr"/>
          <a:lstStyle/>
          <a:p>
            <a:pPr algn="ctr">
              <a:defRPr sz="850" b="1">
                <a:solidFill>
                  <a:srgbClr val="FFFFFF"/>
                </a:solidFill>
                <a:latin typeface="Calibri"/>
              </a:defRPr>
            </a:pPr>
            <a:r>
              <a:t>🎯 Capacity logic: scale physical deployments only after securing safety certifications (CE marking) and local school sponsorships.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200" b="1">
                <a:solidFill>
                  <a:srgbClr val="26788C"/>
                </a:solidFill>
                <a:latin typeface="Calibri"/>
              </a:defRPr>
            </a:pPr>
            <a:r>
              <a:t>4. Upstream Sourcing &amp; Supply Chain</a:t>
            </a:r>
          </a:p>
        </p:txBody>
      </p:sp>
      <p:sp>
        <p:nvSpPr>
          <p:cNvPr id="3" name="Rounded Rectangle 2"/>
          <p:cNvSpPr/>
          <p:nvPr/>
        </p:nvSpPr>
        <p:spPr>
          <a:xfrm>
            <a:off x="500000" y="900000"/>
            <a:ext cx="5400000" cy="5200000"/>
          </a:xfrm>
          <a:prstGeom prst="roundRect">
            <a:avLst/>
          </a:prstGeom>
          <a:solidFill>
            <a:srgbClr val="FFFFFF"/>
          </a:solidFill>
          <a:ln w="19050">
            <a:solidFill>
              <a:srgbClr val="2678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0000" y="1000000"/>
            <a:ext cx="5200000" cy="300000"/>
          </a:xfrm>
          <a:prstGeom prst="roundRect">
            <a:avLst/>
          </a:prstGeom>
          <a:solidFill>
            <a:srgbClr val="26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Calibri"/>
              </a:defRPr>
            </a:pPr>
            <a:r>
              <a:t>TRACK A: HARDWARE PRODUCT SOURCING (BOM)</a:t>
            </a:r>
          </a:p>
        </p:txBody>
      </p:sp>
      <p:sp>
        <p:nvSpPr>
          <p:cNvPr id="5" name="TextBox 4"/>
          <p:cNvSpPr txBox="1"/>
          <p:nvPr/>
        </p:nvSpPr>
        <p:spPr>
          <a:xfrm>
            <a:off x="600000" y="1350000"/>
            <a:ext cx="5200000" cy="4650000"/>
          </a:xfrm>
          <a:prstGeom prst="rect">
            <a:avLst/>
          </a:prstGeom>
          <a:noFill/>
        </p:spPr>
        <p:txBody>
          <a:bodyPr wrap="square" tIns="25400" bIns="25400" lIns="25400" rIns="25400">
            <a:spAutoFit/>
          </a:bodyPr>
          <a:lstStyle/>
          <a:p>
            <a:pPr>
              <a:lnSpc>
                <a:spcPct val="105000"/>
              </a:lnSpc>
              <a:spcAft>
                <a:spcPts val="200"/>
              </a:spcAft>
              <a:defRPr sz="850" b="1">
                <a:solidFill>
                  <a:srgbClr val="26788C"/>
                </a:solidFill>
                <a:latin typeface="Calibri"/>
              </a:defRPr>
            </a:pPr>
            <a:r>
              <a:t>1. Hardware BOM &amp; Kraljic Classification (6 Items):</a:t>
            </a:r>
          </a:p>
          <a:p>
            <a:pPr>
              <a:lnSpc>
                <a:spcPct val="105000"/>
              </a:lnSpc>
              <a:spcAft>
                <a:spcPts val="200"/>
              </a:spcAft>
              <a:defRPr sz="750" b="0">
                <a:solidFill>
                  <a:srgbClr val="333333"/>
                </a:solidFill>
                <a:latin typeface="Calibri"/>
              </a:defRPr>
            </a:pPr>
            <a:r>
              <a:t>• ESP32 MCU Board: Unit Cost: 2.0€ | MOQ: 1 | Region: PRD (Shenzhen) | Kraljic: Strategic</a:t>
            </a:r>
          </a:p>
          <a:p>
            <a:pPr>
              <a:lnSpc>
                <a:spcPct val="105000"/>
              </a:lnSpc>
              <a:spcAft>
                <a:spcPts val="200"/>
              </a:spcAft>
              <a:defRPr sz="750" b="0">
                <a:solidFill>
                  <a:srgbClr val="333333"/>
                </a:solidFill>
                <a:latin typeface="Calibri"/>
              </a:defRPr>
            </a:pPr>
            <a:r>
              <a:t>• WS2812B LED Strip: Unit Cost: 2.0€/m | MOQ: 5m | Region: PRD (Shenzhen) | Kraljic: Leverage</a:t>
            </a:r>
          </a:p>
          <a:p>
            <a:pPr>
              <a:lnSpc>
                <a:spcPct val="105000"/>
              </a:lnSpc>
              <a:spcAft>
                <a:spcPts val="200"/>
              </a:spcAft>
              <a:defRPr sz="750" b="0">
                <a:solidFill>
                  <a:srgbClr val="333333"/>
                </a:solidFill>
                <a:latin typeface="Calibri"/>
              </a:defRPr>
            </a:pPr>
            <a:r>
              <a:t>• SSD1306 OLED (I2C 0.96"): Unit Cost: 1.1€ | MOQ: 1 | Region: PRD (Shenzhen) | Kraljic: Non-Critical</a:t>
            </a:r>
          </a:p>
          <a:p>
            <a:pPr>
              <a:lnSpc>
                <a:spcPct val="105000"/>
              </a:lnSpc>
              <a:spcAft>
                <a:spcPts val="200"/>
              </a:spcAft>
              <a:defRPr sz="750" b="0">
                <a:solidFill>
                  <a:srgbClr val="333333"/>
                </a:solidFill>
                <a:latin typeface="Calibri"/>
              </a:defRPr>
            </a:pPr>
            <a:r>
              <a:t>• DFPlayer Mini + Speakers: Unit Cost: 1.4€ | MOQ: 1 | Region: PRD (Shenzhen) | Kraljic: Non-Critical</a:t>
            </a:r>
          </a:p>
          <a:p>
            <a:pPr>
              <a:lnSpc>
                <a:spcPct val="105000"/>
              </a:lnSpc>
              <a:spcAft>
                <a:spcPts val="200"/>
              </a:spcAft>
              <a:defRPr sz="750" b="0">
                <a:solidFill>
                  <a:srgbClr val="333333"/>
                </a:solidFill>
                <a:latin typeface="Calibri"/>
              </a:defRPr>
            </a:pPr>
            <a:r>
              <a:t>• Arcade Button (5V LED): Unit Cost: 0.7€ | MOQ: 1 | Region: PRD (Dongguan) | Kraljic: Non-Critical</a:t>
            </a:r>
          </a:p>
          <a:p>
            <a:pPr>
              <a:lnSpc>
                <a:spcPct val="105000"/>
              </a:lnSpc>
              <a:spcAft>
                <a:spcPts val="200"/>
              </a:spcAft>
              <a:defRPr sz="750" b="0">
                <a:solidFill>
                  <a:srgbClr val="333333"/>
                </a:solidFill>
                <a:latin typeface="Calibri"/>
              </a:defRPr>
            </a:pPr>
            <a:r>
              <a:t>• Laser-cut Plywood Base: Unit Cost: 3.5€ | MOQ: 1 | Region: YAD (Shanghai) | Kraljic: Bottleneck</a:t>
            </a:r>
          </a:p>
          <a:p>
            <a:pPr>
              <a:lnSpc>
                <a:spcPct val="105000"/>
              </a:lnSpc>
              <a:spcAft>
                <a:spcPts val="200"/>
              </a:spcAft>
              <a:defRPr sz="400" b="0">
                <a:solidFill>
                  <a:srgbClr val="333333"/>
                </a:solidFill>
                <a:latin typeface="Calibri"/>
              </a:defRPr>
            </a:pPr>
          </a:p>
          <a:p>
            <a:pPr>
              <a:lnSpc>
                <a:spcPct val="105000"/>
              </a:lnSpc>
              <a:spcAft>
                <a:spcPts val="200"/>
              </a:spcAft>
              <a:defRPr sz="850" b="1">
                <a:solidFill>
                  <a:srgbClr val="26788C"/>
                </a:solidFill>
                <a:latin typeface="Calibri"/>
              </a:defRPr>
            </a:pPr>
            <a:r>
              <a:t>2. Top 3 Sourcing Decisions &amp; Scale Justifications:</a:t>
            </a:r>
          </a:p>
          <a:p>
            <a:pPr>
              <a:lnSpc>
                <a:spcPct val="105000"/>
              </a:lnSpc>
              <a:spcAft>
                <a:spcPts val="200"/>
              </a:spcAft>
              <a:defRPr sz="750" b="1">
                <a:solidFill>
                  <a:srgbClr val="D97706"/>
                </a:solidFill>
                <a:latin typeface="Calibri"/>
              </a:defRPr>
            </a:pPr>
            <a:r>
              <a:t>• ESP32 Microcontroller Board ── Sourcing: Distributor (Taobao Retailer)</a:t>
            </a:r>
          </a:p>
          <a:p>
            <a:pPr>
              <a:lnSpc>
                <a:spcPct val="105000"/>
              </a:lnSpc>
              <a:spcAft>
                <a:spcPts val="200"/>
              </a:spcAft>
              <a:defRPr sz="700" b="0">
                <a:solidFill>
                  <a:srgbClr val="333333"/>
                </a:solidFill>
                <a:latin typeface="Calibri"/>
              </a:defRPr>
            </a:pPr>
            <a:r>
              <a:t>  Justification: Our low pilot scale (1-3 active units) and tight 25€ grant make bulk wholesale MOQs (typically 100+ units) financially unfeasible. Sourcing from a retail distributor on Taobao allows us to purchase a single unit instantly with no MOQ, protecting our short-term cash flow.</a:t>
            </a:r>
          </a:p>
          <a:p>
            <a:pPr>
              <a:lnSpc>
                <a:spcPct val="105000"/>
              </a:lnSpc>
              <a:spcAft>
                <a:spcPts val="200"/>
              </a:spcAft>
              <a:defRPr sz="750" b="1">
                <a:solidFill>
                  <a:srgbClr val="D97706"/>
                </a:solidFill>
                <a:latin typeface="Calibri"/>
              </a:defRPr>
            </a:pPr>
            <a:r>
              <a:t>• WS2812B Addressable LED Strip ── Sourcing: Wholesaler (Taobao Bulk Store)</a:t>
            </a:r>
          </a:p>
          <a:p>
            <a:pPr>
              <a:lnSpc>
                <a:spcPct val="105000"/>
              </a:lnSpc>
              <a:spcAft>
                <a:spcPts val="200"/>
              </a:spcAft>
              <a:defRPr sz="700" b="0">
                <a:solidFill>
                  <a:srgbClr val="333333"/>
                </a:solidFill>
                <a:latin typeface="Calibri"/>
              </a:defRPr>
            </a:pPr>
            <a:r>
              <a:t>  Justification: We purchase LED strips by the meter. Buying a 5m reel from a bulk store gives us a high volume discount while keeping the MOQ low enough to fit within our 25€ student budget, providing necessary spares for testing.</a:t>
            </a:r>
          </a:p>
          <a:p>
            <a:pPr>
              <a:lnSpc>
                <a:spcPct val="105000"/>
              </a:lnSpc>
              <a:spcAft>
                <a:spcPts val="200"/>
              </a:spcAft>
              <a:defRPr sz="750" b="1">
                <a:solidFill>
                  <a:srgbClr val="D97706"/>
                </a:solidFill>
                <a:latin typeface="Calibri"/>
              </a:defRPr>
            </a:pPr>
            <a:r>
              <a:t>• Laser-cut Paris Plywood Base ── Sourcing: In-House + Campus Fablab</a:t>
            </a:r>
          </a:p>
          <a:p>
            <a:pPr>
              <a:lnSpc>
                <a:spcPct val="105000"/>
              </a:lnSpc>
              <a:spcAft>
                <a:spcPts val="200"/>
              </a:spcAft>
              <a:defRPr sz="700" b="0">
                <a:solidFill>
                  <a:srgbClr val="333333"/>
                </a:solidFill>
                <a:latin typeface="Calibri"/>
              </a:defRPr>
            </a:pPr>
            <a:r>
              <a:t>  Justification: The 20-zone Paris maquette layout is our core custom IP. Sourcing custom outsourced wood cutting from a service provider would cost &gt;50€/unit. Sourcing raw wood sheets and using the free campus laser cutter keeps production costs low, preserves cash flow, and maintains flexible custom revisions.</a:t>
            </a:r>
          </a:p>
        </p:txBody>
      </p:sp>
      <p:sp>
        <p:nvSpPr>
          <p:cNvPr id="6" name="Rounded Rectangle 5"/>
          <p:cNvSpPr/>
          <p:nvPr/>
        </p:nvSpPr>
        <p:spPr>
          <a:xfrm>
            <a:off x="6200000" y="900000"/>
            <a:ext cx="5400000" cy="5200000"/>
          </a:xfrm>
          <a:prstGeom prst="roundRect">
            <a:avLst/>
          </a:prstGeom>
          <a:solidFill>
            <a:srgbClr val="FFFFFF"/>
          </a:solidFill>
          <a:ln w="19050">
            <a:solidFill>
              <a:srgbClr val="2678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300000" y="1000000"/>
            <a:ext cx="5200000" cy="300000"/>
          </a:xfrm>
          <a:prstGeom prst="roundRect">
            <a:avLst/>
          </a:prstGeom>
          <a:solidFill>
            <a:srgbClr val="26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Calibri"/>
              </a:defRPr>
            </a:pPr>
            <a:r>
              <a:t>TRACK B: SERVICE INPUTS &amp; PARTNER STRATEGY</a:t>
            </a:r>
          </a:p>
        </p:txBody>
      </p:sp>
      <p:sp>
        <p:nvSpPr>
          <p:cNvPr id="8" name="TextBox 7"/>
          <p:cNvSpPr txBox="1"/>
          <p:nvPr/>
        </p:nvSpPr>
        <p:spPr>
          <a:xfrm>
            <a:off x="6300000" y="1350000"/>
            <a:ext cx="5200000" cy="4650000"/>
          </a:xfrm>
          <a:prstGeom prst="rect">
            <a:avLst/>
          </a:prstGeom>
          <a:noFill/>
        </p:spPr>
        <p:txBody>
          <a:bodyPr wrap="square" tIns="25400" bIns="25400" lIns="25400" rIns="25400">
            <a:spAutoFit/>
          </a:bodyPr>
          <a:lstStyle/>
          <a:p>
            <a:pPr>
              <a:lnSpc>
                <a:spcPct val="105000"/>
              </a:lnSpc>
              <a:spcAft>
                <a:spcPts val="200"/>
              </a:spcAft>
              <a:defRPr sz="850" b="1">
                <a:solidFill>
                  <a:srgbClr val="26788C"/>
                </a:solidFill>
                <a:latin typeface="Calibri"/>
              </a:defRPr>
            </a:pPr>
            <a:r>
              <a:t>1. Service Canvas &amp; Adapted Kraljic Matrix (5 Items):</a:t>
            </a:r>
          </a:p>
          <a:p>
            <a:pPr>
              <a:lnSpc>
                <a:spcPct val="105000"/>
              </a:lnSpc>
              <a:spcAft>
                <a:spcPts val="200"/>
              </a:spcAft>
              <a:defRPr sz="750" b="0">
                <a:solidFill>
                  <a:srgbClr val="333333"/>
                </a:solidFill>
                <a:latin typeface="Calibri"/>
              </a:defRPr>
            </a:pPr>
            <a:r>
              <a:t>• RTE / ADEME Energy Grid API: Cost: 0€/mo | Region: France | Kraljic: Bottleneck License</a:t>
            </a:r>
          </a:p>
          <a:p>
            <a:pPr>
              <a:lnSpc>
                <a:spcPct val="105000"/>
              </a:lnSpc>
              <a:spcAft>
                <a:spcPts val="200"/>
              </a:spcAft>
              <a:defRPr sz="750" b="0">
                <a:solidFill>
                  <a:srgbClr val="333333"/>
                </a:solidFill>
                <a:latin typeface="Calibri"/>
              </a:defRPr>
            </a:pPr>
            <a:r>
              <a:t>• GitHub Pages / Vercel CDN: Cost: 0€/mo | Region: Global Cloud | Kraljic: Leverage Tool</a:t>
            </a:r>
          </a:p>
          <a:p>
            <a:pPr>
              <a:lnSpc>
                <a:spcPct val="105000"/>
              </a:lnSpc>
              <a:spcAft>
                <a:spcPts val="200"/>
              </a:spcAft>
              <a:defRPr sz="750" b="0">
                <a:solidFill>
                  <a:srgbClr val="333333"/>
                </a:solidFill>
                <a:latin typeface="Calibri"/>
              </a:defRPr>
            </a:pPr>
            <a:r>
              <a:t>• OpenStreetMap Mapping API: Cost: 0€/mo | Region: Global Cloud | Kraljic: Leverage Tool</a:t>
            </a:r>
          </a:p>
          <a:p>
            <a:pPr>
              <a:lnSpc>
                <a:spcPct val="105000"/>
              </a:lnSpc>
              <a:spcAft>
                <a:spcPts val="200"/>
              </a:spcAft>
              <a:defRPr sz="750" b="0">
                <a:solidFill>
                  <a:srgbClr val="333333"/>
                </a:solidFill>
                <a:latin typeface="Calibri"/>
              </a:defRPr>
            </a:pPr>
            <a:r>
              <a:t>• Student Development Labor: Cost: 0€/mo | Region: UTSEUS campus | Kraljic: Strategic Core Tech</a:t>
            </a:r>
          </a:p>
          <a:p>
            <a:pPr>
              <a:lnSpc>
                <a:spcPct val="105000"/>
              </a:lnSpc>
              <a:spcAft>
                <a:spcPts val="200"/>
              </a:spcAft>
              <a:defRPr sz="750" b="0">
                <a:solidFill>
                  <a:srgbClr val="333333"/>
                </a:solidFill>
                <a:latin typeface="Calibri"/>
              </a:defRPr>
            </a:pPr>
            <a:r>
              <a:t>• Taobao Consolidated Shipping: Cost: 2.0€/mo | Region: China | Kraljic: Leverage Tool</a:t>
            </a:r>
          </a:p>
          <a:p>
            <a:pPr>
              <a:lnSpc>
                <a:spcPct val="105000"/>
              </a:lnSpc>
              <a:spcAft>
                <a:spcPts val="200"/>
              </a:spcAft>
              <a:defRPr sz="400" b="0">
                <a:solidFill>
                  <a:srgbClr val="333333"/>
                </a:solidFill>
                <a:latin typeface="Calibri"/>
              </a:defRPr>
            </a:pPr>
          </a:p>
          <a:p>
            <a:pPr>
              <a:lnSpc>
                <a:spcPct val="105000"/>
              </a:lnSpc>
              <a:spcAft>
                <a:spcPts val="200"/>
              </a:spcAft>
              <a:defRPr sz="850" b="1">
                <a:solidFill>
                  <a:srgbClr val="26788C"/>
                </a:solidFill>
                <a:latin typeface="Calibri"/>
              </a:defRPr>
            </a:pPr>
            <a:r>
              <a:t>2. Top 3 Partner Strategies &amp; Scale Justifications:</a:t>
            </a:r>
          </a:p>
          <a:p>
            <a:pPr>
              <a:lnSpc>
                <a:spcPct val="105000"/>
              </a:lnSpc>
              <a:spcAft>
                <a:spcPts val="200"/>
              </a:spcAft>
              <a:defRPr sz="750" b="1">
                <a:solidFill>
                  <a:srgbClr val="D97706"/>
                </a:solidFill>
                <a:latin typeface="Calibri"/>
              </a:defRPr>
            </a:pPr>
            <a:r>
              <a:t>• RTE/ADEME Real-Time Energy Grid API ── Partner Strategy: License (Free B2G SaaS)</a:t>
            </a:r>
          </a:p>
          <a:p>
            <a:pPr>
              <a:lnSpc>
                <a:spcPct val="105000"/>
              </a:lnSpc>
              <a:spcAft>
                <a:spcPts val="200"/>
              </a:spcAft>
              <a:defRPr sz="700" b="0">
                <a:solidFill>
                  <a:srgbClr val="333333"/>
                </a:solidFill>
                <a:latin typeface="Calibri"/>
              </a:defRPr>
            </a:pPr>
            <a:r>
              <a:t>  Justification: Developing our own energy monitoring infrastructure is impossible. Sourcing live French grid carbon intensity metrics directly from the state operator (RTE API) under a free public developer key is the only viable path. We depend on their license, but it requires zero cash flow.</a:t>
            </a:r>
          </a:p>
          <a:p>
            <a:pPr>
              <a:lnSpc>
                <a:spcPct val="105000"/>
              </a:lnSpc>
              <a:spcAft>
                <a:spcPts val="200"/>
              </a:spcAft>
              <a:defRPr sz="750" b="1">
                <a:solidFill>
                  <a:srgbClr val="D97706"/>
                </a:solidFill>
                <a:latin typeface="Calibri"/>
              </a:defRPr>
            </a:pPr>
            <a:r>
              <a:t>• Student HSL Color &amp; Firmware Code ── Partner Strategy: Build in-House</a:t>
            </a:r>
          </a:p>
          <a:p>
            <a:pPr>
              <a:lnSpc>
                <a:spcPct val="105000"/>
              </a:lnSpc>
              <a:spcAft>
                <a:spcPts val="200"/>
              </a:spcAft>
              <a:defRPr sz="700" b="0">
                <a:solidFill>
                  <a:srgbClr val="333333"/>
                </a:solidFill>
                <a:latin typeface="Calibri"/>
              </a:defRPr>
            </a:pPr>
            <a:r>
              <a:t>  Justification: The custom organic "breathing light" logic that maps live carbon distribution data into HSL lights is our core competitive advantage. Building this in-house using the engineering skills of our CTO Sofiane ensures complete design flexibility and avoids high outsourcing fees.</a:t>
            </a:r>
          </a:p>
          <a:p>
            <a:pPr>
              <a:lnSpc>
                <a:spcPct val="105000"/>
              </a:lnSpc>
              <a:spcAft>
                <a:spcPts val="200"/>
              </a:spcAft>
              <a:defRPr sz="750" b="1">
                <a:solidFill>
                  <a:srgbClr val="D97706"/>
                </a:solidFill>
                <a:latin typeface="Calibri"/>
              </a:defRPr>
            </a:pPr>
            <a:r>
              <a:t>• Web Simulator Front-End CDN ── Partner Strategy: License (Free SaaS Pages)</a:t>
            </a:r>
          </a:p>
          <a:p>
            <a:pPr>
              <a:lnSpc>
                <a:spcPct val="105000"/>
              </a:lnSpc>
              <a:spcAft>
                <a:spcPts val="200"/>
              </a:spcAft>
              <a:defRPr sz="700" b="0">
                <a:solidFill>
                  <a:srgbClr val="333333"/>
                </a:solidFill>
                <a:latin typeface="Calibri"/>
              </a:defRPr>
            </a:pPr>
            <a:r>
              <a:t>  Justification: Standard cloud-hosted CDNs (GitHub Pages/Vercel) provide global scaling and fast loading speeds for our simulator with zero cost and zero server maintenance overhead. This allows us to focus entirely on frontend UI revisions without managing backend databases.</a:t>
            </a:r>
          </a:p>
        </p:txBody>
      </p:sp>
    </p:spTree>
  </p:cSld>
  <p:clrMapOvr>
    <a:masterClrMapping/>
  </p:clrMapOvr>
</p:sld>
</file>

<file path=ppt/theme/theme1.xml><?xml version="1.0" encoding="utf-8"?>
<a:theme xmlns:a="http://schemas.openxmlformats.org/drawingml/2006/main" name="DIY AI v2026Q1 Light">
  <a:themeElements>
    <a:clrScheme name="DYI AI 2025-v1">
      <a:dk1>
        <a:srgbClr val="333333"/>
      </a:dk1>
      <a:lt1>
        <a:srgbClr val="FFFFFF"/>
      </a:lt1>
      <a:dk2>
        <a:srgbClr val="28939B"/>
      </a:dk2>
      <a:lt2>
        <a:srgbClr val="EC674A"/>
      </a:lt2>
      <a:accent1>
        <a:srgbClr val="28939B"/>
      </a:accent1>
      <a:accent2>
        <a:srgbClr val="EC674A"/>
      </a:accent2>
      <a:accent3>
        <a:srgbClr val="669B9A"/>
      </a:accent3>
      <a:accent4>
        <a:srgbClr val="EC674A"/>
      </a:accent4>
      <a:accent5>
        <a:srgbClr val="BE0016"/>
      </a:accent5>
      <a:accent6>
        <a:srgbClr val="DDD9C3"/>
      </a:accent6>
      <a:hlink>
        <a:srgbClr val="333333"/>
      </a:hlink>
      <a:folHlink>
        <a:srgbClr val="333333"/>
      </a:folHlink>
    </a:clrScheme>
    <a:fontScheme name="DIY AI 2025 v1">
      <a:majorFont>
        <a:latin typeface="Raleway"/>
        <a:ea typeface="FangSong"/>
        <a:cs typeface=""/>
      </a:majorFont>
      <a:minorFont>
        <a:latin typeface="Lato"/>
        <a:ea typeface="FangSong"/>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solidFill>
            <a:schemeClr val="tx2">
              <a:lumMod val="60000"/>
              <a:lumOff val="40000"/>
            </a:schemeClr>
          </a:solidFill>
        </a:ln>
      </a:spPr>
      <a:bodyPr rtlCol="0" anchor="ctr"/>
      <a:lstStyle>
        <a:defPPr algn="ctr">
          <a:defRPr noProof="0" dirty="0" smtClean="0"/>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IY AI v2025Q2-py-ready.potx" id="{8A25E694-E513-497C-B185-8BE8ABB4324D}" vid="{692DF7CD-8DE9-4090-9829-73E011F2B11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DIY AI v2026Q1-py-ready</Template>
  <TotalTime>206</TotalTime>
  <Words>3275</Words>
  <Application>Microsoft Macintosh PowerPoint</Application>
  <PresentationFormat>Grand écran</PresentationFormat>
  <Paragraphs>272</Paragraphs>
  <Slides>9</Slides>
  <Notes>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9</vt:i4>
      </vt:variant>
    </vt:vector>
  </HeadingPairs>
  <TitlesOfParts>
    <vt:vector size="15" baseType="lpstr">
      <vt:lpstr>Aptos</vt:lpstr>
      <vt:lpstr>Arial</vt:lpstr>
      <vt:lpstr>Lato</vt:lpstr>
      <vt:lpstr>Raleway</vt:lpstr>
      <vt:lpstr>Wingdings</vt:lpstr>
      <vt:lpstr>DIY AI v2026Q1 Light</vt:lpstr>
      <vt:lpstr>Présentation PowerPoint</vt:lpstr>
      <vt:lpstr>Design the Offer</vt:lpstr>
      <vt:lpstr>Growth ambition and scope in China</vt:lpstr>
      <vt:lpstr>Deliver the Value</vt:lpstr>
      <vt:lpstr>Run the Company</vt:lpstr>
      <vt:lpstr> Risks, assumptions, open questions</vt:lpstr>
      <vt:lpstr>1. FROM MVP to MSS</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Etienne Charlier</dc:creator>
  <cp:lastModifiedBy>Abir ISLAM</cp:lastModifiedBy>
  <cp:revision>8</cp:revision>
  <dcterms:created xsi:type="dcterms:W3CDTF">2026-05-20T02:16:38Z</dcterms:created>
  <dcterms:modified xsi:type="dcterms:W3CDTF">2026-05-31T13:35:03Z</dcterms:modified>
</cp:coreProperties>
</file>